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7" r:id="rId2"/>
    <p:sldId id="256" r:id="rId3"/>
    <p:sldId id="259" r:id="rId4"/>
    <p:sldId id="275" r:id="rId5"/>
    <p:sldId id="279" r:id="rId6"/>
    <p:sldId id="324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271" r:id="rId16"/>
    <p:sldId id="284" r:id="rId17"/>
    <p:sldId id="304" r:id="rId18"/>
    <p:sldId id="329" r:id="rId19"/>
    <p:sldId id="327" r:id="rId20"/>
    <p:sldId id="328" r:id="rId21"/>
    <p:sldId id="331" r:id="rId22"/>
    <p:sldId id="332" r:id="rId23"/>
    <p:sldId id="333" r:id="rId24"/>
    <p:sldId id="334" r:id="rId25"/>
    <p:sldId id="335" r:id="rId26"/>
    <p:sldId id="261" r:id="rId27"/>
    <p:sldId id="350" r:id="rId28"/>
    <p:sldId id="357" r:id="rId29"/>
    <p:sldId id="312" r:id="rId30"/>
    <p:sldId id="351" r:id="rId31"/>
    <p:sldId id="352" r:id="rId32"/>
    <p:sldId id="353" r:id="rId33"/>
    <p:sldId id="354" r:id="rId34"/>
    <p:sldId id="355" r:id="rId35"/>
    <p:sldId id="264" r:id="rId36"/>
    <p:sldId id="266" r:id="rId37"/>
    <p:sldId id="272" r:id="rId38"/>
    <p:sldId id="309" r:id="rId39"/>
    <p:sldId id="311" r:id="rId40"/>
    <p:sldId id="310" r:id="rId41"/>
    <p:sldId id="313" r:id="rId42"/>
    <p:sldId id="349" r:id="rId43"/>
    <p:sldId id="314" r:id="rId44"/>
    <p:sldId id="315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159"/>
    <a:srgbClr val="101417"/>
    <a:srgbClr val="111417"/>
    <a:srgbClr val="00E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38" autoAdjust="0"/>
  </p:normalViewPr>
  <p:slideViewPr>
    <p:cSldViewPr snapToGrid="0">
      <p:cViewPr varScale="1">
        <p:scale>
          <a:sx n="86" d="100"/>
          <a:sy n="86" d="100"/>
        </p:scale>
        <p:origin x="270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6BB14-D661-4E26-93F2-D35FFB1AF136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6435E-9952-481F-ADF0-B1424DA4B0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75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782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974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66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7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662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5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960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47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122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71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62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535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696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058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772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844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77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153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6435E-9952-481F-ADF0-B1424DA4B0E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04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829E4-D3E4-4446-B43B-73D712C12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C22B03-DA93-47DA-AD65-1D5132E3F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6814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7B8D5-8F4F-4623-B645-58605E2A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AF272-468A-4826-9563-5F9C25471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5902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5E6C8-47EE-4AD4-B13D-ADC633DF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6CC281-F123-47A9-95AF-B730BA676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2239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F670A-C0AE-4302-A80B-C9942ED2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DFEEA5-8960-4E66-A182-67C672EE3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A7B75D-AEA0-4F27-9F28-17C166E25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2079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E0762-5A33-45C2-9331-C51BEDC2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2AB915-AEFA-4962-959E-CAB39C259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6A35A8-AC4C-4471-A0CC-99577E969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859533-D9F9-41C5-8122-D9B26C7A3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FA2734-E72A-494C-A37B-7F37DDC8F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085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AFEE7-E7BB-4D7F-A9D3-4C58087C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4953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36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2DE7F-6A35-4D1C-ACC6-10311EF3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45C80-17B1-4CC1-A543-8163BA125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EA1D75-9F40-49CE-9E16-6A9070105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9560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E96F1-553E-4DC7-87ED-284F6BFC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E937A0-2290-405E-84DC-9BBF93FA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710D9B-A0ED-41BA-B246-540C0A18C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63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EB518-52A3-4573-8F0E-6BD8D45E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732AF5-7CEC-413D-929D-2136FE9F6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11904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E67D95-D9E1-4D73-96B1-EB6F36923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9CA566-742D-4CCE-8E73-38066F0C0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118941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9000"/>
                <a:lumOff val="71000"/>
              </a:schemeClr>
            </a:gs>
            <a:gs pos="100000">
              <a:schemeClr val="accent1">
                <a:lumMod val="21000"/>
                <a:lumOff val="79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AD33C0-7E5A-49E2-B4AD-20DADBCA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324301-CEC8-4C91-A034-17367C8D0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8179"/>
            <a:ext cx="10515600" cy="3578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0DCB27-36FF-4787-B6FE-9CBEAE58916D}"/>
              </a:ext>
            </a:extLst>
          </p:cNvPr>
          <p:cNvSpPr txBox="1"/>
          <p:nvPr userDrawn="1"/>
        </p:nvSpPr>
        <p:spPr>
          <a:xfrm>
            <a:off x="4038600" y="6400412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altLang="ko-KR" dirty="0">
                <a:solidFill>
                  <a:schemeClr val="accent1"/>
                </a:solidFill>
              </a:rPr>
              <a:t>A309 | SAN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7433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microsoft.com/office/2007/relationships/hdphoto" Target="../media/hdphoto3.wdp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image" Target="../media/image30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6.png"/><Relationship Id="rId5" Type="http://schemas.openxmlformats.org/officeDocument/2006/relationships/image" Target="../media/image29.png"/><Relationship Id="rId10" Type="http://schemas.openxmlformats.org/officeDocument/2006/relationships/image" Target="../media/image35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7.png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8.gif"/><Relationship Id="rId4" Type="http://schemas.microsoft.com/office/2007/relationships/hdphoto" Target="../media/hdphoto3.wdp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39.png"/><Relationship Id="rId10" Type="http://schemas.openxmlformats.org/officeDocument/2006/relationships/image" Target="../media/image28.png"/><Relationship Id="rId4" Type="http://schemas.microsoft.com/office/2007/relationships/hdphoto" Target="../media/hdphoto3.wdp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40.png"/><Relationship Id="rId4" Type="http://schemas.microsoft.com/office/2007/relationships/hdphoto" Target="../media/hdphoto3.wdp"/><Relationship Id="rId9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62.png"/><Relationship Id="rId18" Type="http://schemas.microsoft.com/office/2007/relationships/hdphoto" Target="../media/hdphoto10.wdp"/><Relationship Id="rId3" Type="http://schemas.openxmlformats.org/officeDocument/2006/relationships/image" Target="../media/image26.png"/><Relationship Id="rId7" Type="http://schemas.openxmlformats.org/officeDocument/2006/relationships/image" Target="../media/image59.png"/><Relationship Id="rId12" Type="http://schemas.microsoft.com/office/2007/relationships/hdphoto" Target="../media/hdphoto7.wdp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6" Type="http://schemas.microsoft.com/office/2007/relationships/hdphoto" Target="../media/hdphoto9.wdp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11" Type="http://schemas.openxmlformats.org/officeDocument/2006/relationships/image" Target="../media/image61.png"/><Relationship Id="rId5" Type="http://schemas.openxmlformats.org/officeDocument/2006/relationships/image" Target="../media/image58.png"/><Relationship Id="rId15" Type="http://schemas.openxmlformats.org/officeDocument/2006/relationships/image" Target="../media/image63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60.png"/><Relationship Id="rId14" Type="http://schemas.microsoft.com/office/2007/relationships/hdphoto" Target="../media/hdphoto8.wdp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2F1EFAF-1BA6-4DAA-954B-29DA542393DD}"/>
              </a:ext>
            </a:extLst>
          </p:cNvPr>
          <p:cNvSpPr/>
          <p:nvPr/>
        </p:nvSpPr>
        <p:spPr>
          <a:xfrm>
            <a:off x="4000500" y="1861799"/>
            <a:ext cx="1762125" cy="414676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931DB-00F7-4393-80BB-B0941AF20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8209" y="1783365"/>
            <a:ext cx="4935583" cy="571545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개발자</a:t>
            </a:r>
            <a:r>
              <a:rPr lang="ko-KR" altLang="en-US" dirty="0">
                <a:latin typeface="+mn-ea"/>
              </a:rPr>
              <a:t>를 위한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지식 리콜 서비스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815AC4-EA13-449E-8FEB-BFC6F13B947F}"/>
              </a:ext>
            </a:extLst>
          </p:cNvPr>
          <p:cNvGrpSpPr/>
          <p:nvPr/>
        </p:nvGrpSpPr>
        <p:grpSpPr>
          <a:xfrm>
            <a:off x="5243972" y="2802245"/>
            <a:ext cx="3113184" cy="1041686"/>
            <a:chOff x="5243972" y="2811448"/>
            <a:chExt cx="3113184" cy="1041686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DD79C62E-CA29-4A01-8643-19536BCD0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065" b="88710" l="3733" r="97512">
                          <a14:foregroundMark x1="70762" y1="46774" x2="70762" y2="46774"/>
                          <a14:foregroundMark x1="77605" y1="43548" x2="77605" y2="43548"/>
                          <a14:foregroundMark x1="41680" y1="29032" x2="41680" y2="29032"/>
                          <a14:foregroundMark x1="46345" y1="45161" x2="46345" y2="45161"/>
                          <a14:foregroundMark x1="53655" y1="41935" x2="53655" y2="41935"/>
                          <a14:foregroundMark x1="83359" y1="43548" x2="83359" y2="43548"/>
                          <a14:foregroundMark x1="84137" y1="25806" x2="84137" y2="25806"/>
                          <a14:foregroundMark x1="87869" y1="45161" x2="87869" y2="45161"/>
                          <a14:foregroundMark x1="94090" y1="54839" x2="94090" y2="54839"/>
                          <a14:foregroundMark x1="97667" y1="43548" x2="97667" y2="43548"/>
                          <a14:foregroundMark x1="3733" y1="43548" x2="3733" y2="43548"/>
                          <a14:foregroundMark x1="10264" y1="50000" x2="10264" y2="50000"/>
                          <a14:foregroundMark x1="16485" y1="45161" x2="16485" y2="45161"/>
                          <a14:foregroundMark x1="23795" y1="40323" x2="23795" y2="40323"/>
                          <a14:foregroundMark x1="28616" y1="48387" x2="28616" y2="48387"/>
                          <a14:foregroundMark x1="68118" y1="46774" x2="68118" y2="46774"/>
                          <a14:backgroundMark x1="23484" y1="66129" x2="23484" y2="66129"/>
                          <a14:backgroundMark x1="30793" y1="54839" x2="30793" y2="54839"/>
                          <a14:backgroundMark x1="40280" y1="45161" x2="40280" y2="45161"/>
                          <a14:backgroundMark x1="25039" y1="74194" x2="25039" y2="74194"/>
                          <a14:backgroundMark x1="56454" y1="85484" x2="56454" y2="85484"/>
                          <a14:backgroundMark x1="91446" y1="61290" x2="91446" y2="61290"/>
                          <a14:backgroundMark x1="8709" y1="40323" x2="8709" y2="40323"/>
                          <a14:backgroundMark x1="56610" y1="87097" x2="56610" y2="87097"/>
                          <a14:backgroundMark x1="59409" y1="16129" x2="59409" y2="16129"/>
                          <a14:backgroundMark x1="1400" y1="43548" x2="1400" y2="4354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43972" y="3552952"/>
              <a:ext cx="3113179" cy="30018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0CE7DCA-BF79-4CB3-AA38-91787F13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3972" y="2811448"/>
              <a:ext cx="3113184" cy="741504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199540D2-B31B-4F7E-8F73-157FB9F43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812" y="2716929"/>
            <a:ext cx="1212318" cy="12123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2F929D-C5EB-48B1-958A-F3D0170BFC3F}"/>
              </a:ext>
            </a:extLst>
          </p:cNvPr>
          <p:cNvSpPr txBox="1"/>
          <p:nvPr/>
        </p:nvSpPr>
        <p:spPr>
          <a:xfrm>
            <a:off x="4885779" y="4585435"/>
            <a:ext cx="242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n-ea"/>
              </a:rPr>
              <a:t>발표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 | </a:t>
            </a:r>
            <a:r>
              <a:rPr lang="ko-KR" altLang="en-US" dirty="0" err="1">
                <a:solidFill>
                  <a:schemeClr val="accent1"/>
                </a:solidFill>
                <a:latin typeface="+mn-ea"/>
              </a:rPr>
              <a:t>귄예지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237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181DB8-9B22-4517-A267-E373287184E9}"/>
              </a:ext>
            </a:extLst>
          </p:cNvPr>
          <p:cNvSpPr/>
          <p:nvPr/>
        </p:nvSpPr>
        <p:spPr>
          <a:xfrm>
            <a:off x="195943" y="197799"/>
            <a:ext cx="11800114" cy="6462402"/>
          </a:xfrm>
          <a:prstGeom prst="roundRect">
            <a:avLst>
              <a:gd name="adj" fmla="val 890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99F2F73-F5FE-4658-A1CB-0761425F89B1}"/>
              </a:ext>
            </a:extLst>
          </p:cNvPr>
          <p:cNvGrpSpPr/>
          <p:nvPr/>
        </p:nvGrpSpPr>
        <p:grpSpPr>
          <a:xfrm>
            <a:off x="2287635" y="2447445"/>
            <a:ext cx="4757040" cy="326051"/>
            <a:chOff x="2287635" y="2447445"/>
            <a:chExt cx="4757040" cy="326051"/>
          </a:xfrm>
        </p:grpSpPr>
        <p:sp>
          <p:nvSpPr>
            <p:cNvPr id="5" name="TextBox 5"/>
            <p:cNvSpPr txBox="1"/>
            <p:nvPr/>
          </p:nvSpPr>
          <p:spPr>
            <a:xfrm>
              <a:off x="2959237" y="2447445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문제 정의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7635" y="2450170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01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451E0E3-CA88-4717-A302-1B03892F6539}"/>
              </a:ext>
            </a:extLst>
          </p:cNvPr>
          <p:cNvGrpSpPr/>
          <p:nvPr/>
        </p:nvGrpSpPr>
        <p:grpSpPr>
          <a:xfrm>
            <a:off x="7340616" y="3270516"/>
            <a:ext cx="4757039" cy="326051"/>
            <a:chOff x="7340616" y="3257206"/>
            <a:chExt cx="4757039" cy="326051"/>
          </a:xfrm>
        </p:grpSpPr>
        <p:sp>
          <p:nvSpPr>
            <p:cNvPr id="6" name="TextBox 6"/>
            <p:cNvSpPr txBox="1"/>
            <p:nvPr/>
          </p:nvSpPr>
          <p:spPr>
            <a:xfrm>
              <a:off x="8012217" y="3257206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기대 효과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40616" y="3259931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06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38A81AF-893F-4CF1-828C-1A446DD8A5A3}"/>
              </a:ext>
            </a:extLst>
          </p:cNvPr>
          <p:cNvGrpSpPr/>
          <p:nvPr/>
        </p:nvGrpSpPr>
        <p:grpSpPr>
          <a:xfrm>
            <a:off x="2287635" y="3270516"/>
            <a:ext cx="4757040" cy="326051"/>
            <a:chOff x="2287635" y="3257206"/>
            <a:chExt cx="4757040" cy="326051"/>
          </a:xfrm>
        </p:grpSpPr>
        <p:sp>
          <p:nvSpPr>
            <p:cNvPr id="7" name="TextBox 7"/>
            <p:cNvSpPr txBox="1"/>
            <p:nvPr/>
          </p:nvSpPr>
          <p:spPr>
            <a:xfrm>
              <a:off x="2959237" y="3257206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기존</a:t>
              </a:r>
              <a:r>
                <a:rPr lang="en-US" altLang="ko-KR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 </a:t>
              </a: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서비스의 한계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7635" y="3259931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02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E179FA3-8260-4894-A445-377683968F24}"/>
              </a:ext>
            </a:extLst>
          </p:cNvPr>
          <p:cNvGrpSpPr/>
          <p:nvPr/>
        </p:nvGrpSpPr>
        <p:grpSpPr>
          <a:xfrm>
            <a:off x="7340616" y="4093587"/>
            <a:ext cx="4757039" cy="326051"/>
            <a:chOff x="7340616" y="4067572"/>
            <a:chExt cx="4757039" cy="326051"/>
          </a:xfrm>
        </p:grpSpPr>
        <p:sp>
          <p:nvSpPr>
            <p:cNvPr id="8" name="TextBox 8"/>
            <p:cNvSpPr txBox="1"/>
            <p:nvPr/>
          </p:nvSpPr>
          <p:spPr>
            <a:xfrm>
              <a:off x="8012217" y="4067572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팀원 소개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40616" y="4070297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07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26B04D-40C9-41ED-9903-F69B85066E7F}"/>
              </a:ext>
            </a:extLst>
          </p:cNvPr>
          <p:cNvGrpSpPr/>
          <p:nvPr/>
        </p:nvGrpSpPr>
        <p:grpSpPr>
          <a:xfrm>
            <a:off x="2287635" y="4093587"/>
            <a:ext cx="4757040" cy="326051"/>
            <a:chOff x="2287635" y="4067572"/>
            <a:chExt cx="4757040" cy="326051"/>
          </a:xfrm>
        </p:grpSpPr>
        <p:sp>
          <p:nvSpPr>
            <p:cNvPr id="9" name="TextBox 9"/>
            <p:cNvSpPr txBox="1"/>
            <p:nvPr/>
          </p:nvSpPr>
          <p:spPr>
            <a:xfrm>
              <a:off x="2959237" y="4067572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SAN </a:t>
              </a: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핵심 기능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7635" y="4070297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03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E03377E-BF3A-48DA-9BEA-89B6F35BFDE5}"/>
              </a:ext>
            </a:extLst>
          </p:cNvPr>
          <p:cNvGrpSpPr/>
          <p:nvPr/>
        </p:nvGrpSpPr>
        <p:grpSpPr>
          <a:xfrm>
            <a:off x="7340616" y="2447445"/>
            <a:ext cx="4757039" cy="326051"/>
            <a:chOff x="7340616" y="2447445"/>
            <a:chExt cx="4757039" cy="326051"/>
          </a:xfrm>
        </p:grpSpPr>
        <p:sp>
          <p:nvSpPr>
            <p:cNvPr id="10" name="TextBox 10"/>
            <p:cNvSpPr txBox="1"/>
            <p:nvPr/>
          </p:nvSpPr>
          <p:spPr>
            <a:xfrm>
              <a:off x="8012217" y="2447445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활용 기술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40616" y="2450170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682281" y="585874"/>
            <a:ext cx="2792576" cy="513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  <a:cs typeface="Pretendard" panose="02000503000000020004" pitchFamily="50" charset="-127"/>
                <a:sym typeface="Noto Sans Kr Semi-Bold"/>
              </a:rPr>
              <a:t>발표 순서</a:t>
            </a:r>
            <a:endParaRPr lang="en-US" sz="2800" dirty="0">
              <a:solidFill>
                <a:srgbClr val="000000"/>
              </a:solidFill>
              <a:latin typeface="+mj-ea"/>
              <a:ea typeface="+mj-ea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85800" y="1302481"/>
            <a:ext cx="10820400" cy="0"/>
          </a:xfrm>
          <a:prstGeom prst="line">
            <a:avLst/>
          </a:prstGeom>
          <a:ln w="2857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4D168F2-3012-430B-91D5-CAB90B9E48F7}"/>
              </a:ext>
            </a:extLst>
          </p:cNvPr>
          <p:cNvGrpSpPr/>
          <p:nvPr/>
        </p:nvGrpSpPr>
        <p:grpSpPr>
          <a:xfrm>
            <a:off x="7369645" y="4916658"/>
            <a:ext cx="4757039" cy="326051"/>
            <a:chOff x="7369645" y="4916658"/>
            <a:chExt cx="4757039" cy="326051"/>
          </a:xfrm>
        </p:grpSpPr>
        <p:sp>
          <p:nvSpPr>
            <p:cNvPr id="21" name="TextBox 8">
              <a:extLst>
                <a:ext uri="{FF2B5EF4-FFF2-40B4-BE49-F238E27FC236}">
                  <a16:creationId xmlns:a16="http://schemas.microsoft.com/office/drawing/2014/main" id="{9E3DF55E-12CA-4367-89F7-395802F5232C}"/>
                </a:ext>
              </a:extLst>
            </p:cNvPr>
            <p:cNvSpPr txBox="1"/>
            <p:nvPr/>
          </p:nvSpPr>
          <p:spPr>
            <a:xfrm>
              <a:off x="8041246" y="4916658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en-US" altLang="ko-KR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Q&amp;A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1B1A60AA-BD08-4B9A-BC34-D38567769B13}"/>
                </a:ext>
              </a:extLst>
            </p:cNvPr>
            <p:cNvSpPr txBox="1"/>
            <p:nvPr/>
          </p:nvSpPr>
          <p:spPr>
            <a:xfrm>
              <a:off x="7369645" y="4919383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08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041A0ED-0E3F-4BBE-BB09-AF46E0025D31}"/>
              </a:ext>
            </a:extLst>
          </p:cNvPr>
          <p:cNvGrpSpPr/>
          <p:nvPr/>
        </p:nvGrpSpPr>
        <p:grpSpPr>
          <a:xfrm>
            <a:off x="2316664" y="4916658"/>
            <a:ext cx="4757040" cy="326051"/>
            <a:chOff x="2316664" y="4916658"/>
            <a:chExt cx="4757040" cy="326051"/>
          </a:xfrm>
        </p:grpSpPr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25C552E2-8280-4C85-8DCB-5BCD77E7E343}"/>
                </a:ext>
              </a:extLst>
            </p:cNvPr>
            <p:cNvSpPr txBox="1"/>
            <p:nvPr/>
          </p:nvSpPr>
          <p:spPr>
            <a:xfrm>
              <a:off x="2988266" y="4916658"/>
              <a:ext cx="4085438" cy="32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80"/>
                </a:lnSpc>
              </a:pPr>
              <a:r>
                <a:rPr lang="ko-KR" altLang="en-US" sz="2133" b="1" dirty="0">
                  <a:solidFill>
                    <a:srgbClr val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 Medium"/>
                </a:rPr>
                <a:t>시연</a:t>
              </a:r>
              <a:endParaRPr lang="en-US" sz="2133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Medium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E89C4331-B05D-451F-8054-10CE65BD34EE}"/>
                </a:ext>
              </a:extLst>
            </p:cNvPr>
            <p:cNvSpPr txBox="1"/>
            <p:nvPr/>
          </p:nvSpPr>
          <p:spPr>
            <a:xfrm>
              <a:off x="2316664" y="4919383"/>
              <a:ext cx="592257" cy="320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33" b="1" dirty="0">
                  <a:solidFill>
                    <a:schemeClr val="accent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Inter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66EDEC42-9519-4435-B6D6-3BD331396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r="1413"/>
          <a:stretch/>
        </p:blipFill>
        <p:spPr>
          <a:xfrm>
            <a:off x="4341817" y="2367398"/>
            <a:ext cx="3508366" cy="1891189"/>
          </a:xfrm>
          <a:prstGeom prst="rect">
            <a:avLst/>
          </a:prstGeom>
          <a:noFill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4127C5-5EC5-424F-AEC9-81BC8240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개발자는 어떻게 학습하는가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488AD-A8C2-45D3-AC96-F0DB035B643F}"/>
              </a:ext>
            </a:extLst>
          </p:cNvPr>
          <p:cNvSpPr txBox="1"/>
          <p:nvPr/>
        </p:nvSpPr>
        <p:spPr>
          <a:xfrm>
            <a:off x="1726984" y="4310682"/>
            <a:ext cx="124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n-ea"/>
              </a:rPr>
              <a:t>공식 문서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3050FA-084D-485D-9378-0B406F001D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62575" y="2367402"/>
            <a:ext cx="3508367" cy="1892287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ABFEFC-71DC-4217-8A06-0A08BC1FCAE3}"/>
              </a:ext>
            </a:extLst>
          </p:cNvPr>
          <p:cNvSpPr txBox="1"/>
          <p:nvPr/>
        </p:nvSpPr>
        <p:spPr>
          <a:xfrm>
            <a:off x="5343456" y="4310682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n-ea"/>
              </a:rPr>
              <a:t>개발 커뮤니티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9B8312F-333D-4C97-8F4C-A3D6FEA222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8021058" y="2367401"/>
            <a:ext cx="3508366" cy="1891189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262E53-BD9C-4636-8CFC-0ACCBB1F96CE}"/>
              </a:ext>
            </a:extLst>
          </p:cNvPr>
          <p:cNvSpPr txBox="1"/>
          <p:nvPr/>
        </p:nvSpPr>
        <p:spPr>
          <a:xfrm>
            <a:off x="9022697" y="4310682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n-ea"/>
              </a:rPr>
              <a:t>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9FF3F4-8C78-446A-9981-8D61228BE67B}"/>
              </a:ext>
            </a:extLst>
          </p:cNvPr>
          <p:cNvSpPr txBox="1"/>
          <p:nvPr/>
        </p:nvSpPr>
        <p:spPr>
          <a:xfrm>
            <a:off x="5149267" y="1003738"/>
            <a:ext cx="189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STEP 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정보</a:t>
            </a:r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탐색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87BA03-869C-44BC-8AD1-66947E97F4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8583" y="2674820"/>
            <a:ext cx="1276350" cy="12763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FA4EFA-5ADA-4134-95E0-0626557CDE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523" y="2706277"/>
            <a:ext cx="1213435" cy="12134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ACFD261-C448-474C-BB2C-46D318CAA0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7187" y="2654181"/>
            <a:ext cx="1317625" cy="131762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EEFE0F2-02AE-4515-8F04-33ACCC8B042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1. </a:t>
            </a:r>
            <a:r>
              <a:rPr lang="ko-KR" altLang="en-US" dirty="0"/>
              <a:t>문제 정의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D2D564-79E5-4ADA-9A2D-8447BD3D5FF7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73970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81AF73A-7603-472D-B5D6-83443A5E9D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493091" y="2366305"/>
            <a:ext cx="3540897" cy="1948209"/>
          </a:xfrm>
          <a:prstGeom prst="rect">
            <a:avLst/>
          </a:prstGeom>
          <a:noFill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13C833-19CC-40E1-BC11-D58A8E0223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20000"/>
          </a:blip>
          <a:srcRect t="6031" r="3363"/>
          <a:stretch/>
        </p:blipFill>
        <p:spPr>
          <a:xfrm>
            <a:off x="6158012" y="2366305"/>
            <a:ext cx="3540897" cy="1948209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6895F-9A4D-408C-A083-EA3C9811EE60}"/>
              </a:ext>
            </a:extLst>
          </p:cNvPr>
          <p:cNvSpPr txBox="1"/>
          <p:nvPr/>
        </p:nvSpPr>
        <p:spPr>
          <a:xfrm>
            <a:off x="3624759" y="4398161"/>
            <a:ext cx="124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n-ea"/>
              </a:rPr>
              <a:t>Notion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2436D-BDC5-4EB1-8E96-480551932A31}"/>
              </a:ext>
            </a:extLst>
          </p:cNvPr>
          <p:cNvSpPr txBox="1"/>
          <p:nvPr/>
        </p:nvSpPr>
        <p:spPr>
          <a:xfrm>
            <a:off x="7175917" y="4397064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n-ea"/>
              </a:rPr>
              <a:t>북마크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24918CB1-DA2C-45AD-BF20-D2353D1F591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개발자는 </a:t>
            </a:r>
            <a:r>
              <a:rPr lang="ko-KR" altLang="en-US"/>
              <a:t>어떻게 학습하는가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B257C7-7900-4575-A0C9-45DE794503EB}"/>
              </a:ext>
            </a:extLst>
          </p:cNvPr>
          <p:cNvSpPr txBox="1"/>
          <p:nvPr/>
        </p:nvSpPr>
        <p:spPr>
          <a:xfrm>
            <a:off x="5133236" y="1003738"/>
            <a:ext cx="1925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STEP 2.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정보</a:t>
            </a:r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수집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F83F1D0-01FA-46C0-AF10-2C763AD7A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768" y="2756209"/>
            <a:ext cx="1193800" cy="11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517E60-C915-40E3-984D-1F436CA49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260" y="2756209"/>
            <a:ext cx="1168400" cy="1168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0D0888-F337-4A40-82C1-9AC1556E73E6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1. </a:t>
            </a:r>
            <a:r>
              <a:rPr lang="ko-KR" altLang="en-US" dirty="0"/>
              <a:t>문제 정의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1A8A70-FE3F-4CA2-9285-C6819D19B7E8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21204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90CBE0B-A0D7-4EFE-8238-1402D3A254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163292" y="2366304"/>
            <a:ext cx="3628663" cy="1948207"/>
          </a:xfrm>
          <a:prstGeom prst="rect">
            <a:avLst/>
          </a:prstGeom>
          <a:noFill/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ABFE0199-4DA2-4656-BA6C-E1A67FFA7A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개발자는 어떻게 학습하는가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4AAFF-CCF4-40E5-8576-29E7CD239290}"/>
              </a:ext>
            </a:extLst>
          </p:cNvPr>
          <p:cNvSpPr txBox="1"/>
          <p:nvPr/>
        </p:nvSpPr>
        <p:spPr>
          <a:xfrm>
            <a:off x="2287154" y="4346260"/>
            <a:ext cx="393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lt"/>
              </a:rPr>
              <a:t>T</a:t>
            </a:r>
            <a:r>
              <a:rPr lang="en-US" altLang="ko-KR" dirty="0">
                <a:solidFill>
                  <a:schemeClr val="accent1"/>
                </a:solidFill>
              </a:rPr>
              <a:t>oday </a:t>
            </a:r>
            <a:r>
              <a:rPr lang="en-US" altLang="ko-KR" dirty="0">
                <a:solidFill>
                  <a:schemeClr val="accent1"/>
                </a:solidFill>
                <a:latin typeface="+mj-lt"/>
              </a:rPr>
              <a:t>I L</a:t>
            </a:r>
            <a:r>
              <a:rPr lang="en-US" altLang="ko-KR" dirty="0">
                <a:solidFill>
                  <a:schemeClr val="accent1"/>
                </a:solidFill>
              </a:rPr>
              <a:t>earned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1D2D56-806C-4C82-84A5-5684DF717016}"/>
              </a:ext>
            </a:extLst>
          </p:cNvPr>
          <p:cNvSpPr txBox="1"/>
          <p:nvPr/>
        </p:nvSpPr>
        <p:spPr>
          <a:xfrm>
            <a:off x="7181197" y="4346260"/>
            <a:ext cx="15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accent1"/>
                </a:solidFill>
                <a:latin typeface="+mn-ea"/>
              </a:rPr>
              <a:t>테크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 블로그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C75C5B-3934-4E6F-8419-6382F4A721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360027" y="2366305"/>
            <a:ext cx="3668337" cy="1948207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2AE955-D7E7-48FB-968C-0756C3922B81}"/>
              </a:ext>
            </a:extLst>
          </p:cNvPr>
          <p:cNvSpPr txBox="1"/>
          <p:nvPr/>
        </p:nvSpPr>
        <p:spPr>
          <a:xfrm>
            <a:off x="5130032" y="1003738"/>
            <a:ext cx="193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STEP 3.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학습 기록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557FA7-87D7-4647-846B-694266BE8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772" y="2616438"/>
            <a:ext cx="1447938" cy="14479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955E8FC-2DD5-4D93-A81A-D708F5721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255" y="2597467"/>
            <a:ext cx="1485880" cy="14858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D9E868-F685-49E8-94E0-F4FDD2C8220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1. </a:t>
            </a:r>
            <a:r>
              <a:rPr lang="ko-KR" altLang="en-US" dirty="0"/>
              <a:t>문제 정의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C6170-1005-4459-8A7A-2795EC13B72F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75768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E910FC3B-F752-47B3-BABE-A2CB5C7D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790A1B-0BAB-41E9-91F5-D73FA6054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CF728282-D7B6-4B17-967F-193BCEABF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34A6EDB-1723-4018-A01B-9A0B921FA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78A252D-4DD5-4FBA-9DF4-5AB0BE2C628B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84A3DF-9A46-4F27-A08B-A9BF3B46989F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196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72B9C02-B7C4-439D-82CF-1520649FAFEE}"/>
              </a:ext>
            </a:extLst>
          </p:cNvPr>
          <p:cNvSpPr/>
          <p:nvPr/>
        </p:nvSpPr>
        <p:spPr>
          <a:xfrm>
            <a:off x="1047750" y="3656399"/>
            <a:ext cx="2216603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>
                <a:solidFill>
                  <a:schemeClr val="bg1"/>
                </a:solidFill>
              </a:rPr>
              <a:t>맥락 없는 정보의 </a:t>
            </a:r>
            <a:r>
              <a:rPr lang="ko-KR" altLang="en-US" b="1" dirty="0">
                <a:solidFill>
                  <a:schemeClr val="bg1"/>
                </a:solidFill>
              </a:rPr>
              <a:t>파편화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DB0500B-D500-4AB6-8EC0-F904E4575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DF2B1D9-08A4-4F9F-9E5E-3586C1C7A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585B1F3D-1D3F-459F-8CA0-7BAEF33CD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791A09B-943E-4263-8EB9-8604975B2B6C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F32952-39B5-4D19-8FC1-6BECFBEE655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302470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0B4AC5-0D58-43C2-8B0C-CA892E0E7FED}"/>
              </a:ext>
            </a:extLst>
          </p:cNvPr>
          <p:cNvSpPr/>
          <p:nvPr/>
        </p:nvSpPr>
        <p:spPr>
          <a:xfrm>
            <a:off x="3895725" y="3656399"/>
            <a:ext cx="1764506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b="1" dirty="0">
                <a:solidFill>
                  <a:schemeClr val="bg1"/>
                </a:solidFill>
              </a:rPr>
              <a:t>수동 분류</a:t>
            </a:r>
            <a:r>
              <a:rPr lang="ko-KR" altLang="en-US" dirty="0">
                <a:solidFill>
                  <a:schemeClr val="bg1"/>
                </a:solidFill>
              </a:rPr>
              <a:t>의 피로도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264B719-5B9A-4083-86CD-E022277BE3A3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F13DC7-B7A3-4876-BB4A-D018A1B31294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101095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7F5365-A42D-4191-B7E8-E25C0CEBD978}"/>
              </a:ext>
            </a:extLst>
          </p:cNvPr>
          <p:cNvSpPr/>
          <p:nvPr/>
        </p:nvSpPr>
        <p:spPr>
          <a:xfrm>
            <a:off x="6389932" y="3656399"/>
            <a:ext cx="2049217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b="1" dirty="0">
                <a:solidFill>
                  <a:schemeClr val="bg1"/>
                </a:solidFill>
              </a:rPr>
              <a:t>단절된</a:t>
            </a:r>
            <a:r>
              <a:rPr lang="ko-KR" altLang="en-US" dirty="0">
                <a:solidFill>
                  <a:schemeClr val="bg1"/>
                </a:solidFill>
              </a:rPr>
              <a:t> 기록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학습 흐름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B676776-C32D-4EC8-8D8F-98EBA6756D2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A55680-D09F-4440-A42C-E6F5558D0E23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17449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0FD546-750C-44BE-B9D8-AE88C7EA6E74}"/>
              </a:ext>
            </a:extLst>
          </p:cNvPr>
          <p:cNvSpPr/>
          <p:nvPr/>
        </p:nvSpPr>
        <p:spPr>
          <a:xfrm>
            <a:off x="8857767" y="3656399"/>
            <a:ext cx="2399196" cy="321291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>
                <a:solidFill>
                  <a:schemeClr val="bg1"/>
                </a:solidFill>
              </a:rPr>
              <a:t>활용되지 않는 </a:t>
            </a:r>
            <a:r>
              <a:rPr lang="ko-KR" altLang="en-US" b="1" dirty="0">
                <a:solidFill>
                  <a:schemeClr val="bg1"/>
                </a:solidFill>
              </a:rPr>
              <a:t>사장된 지식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7554F58-4761-4180-A056-A08E65511EF6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971B4E-8723-4399-A908-E2780603BEB7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373251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3A4774-B49C-4690-A930-BC6367A9853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2F4771-0E54-4714-84CB-F67690E41383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1809625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79898-3042-4232-B004-D753A5A80458}"/>
              </a:ext>
            </a:extLst>
          </p:cNvPr>
          <p:cNvSpPr txBox="1"/>
          <p:nvPr/>
        </p:nvSpPr>
        <p:spPr>
          <a:xfrm>
            <a:off x="3812967" y="2871367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귀찮은 요약은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2"/>
                </a:solidFill>
              </a:rPr>
              <a:t>AI</a:t>
            </a:r>
            <a:r>
              <a:rPr lang="ko-KR" altLang="en-US" dirty="0">
                <a:solidFill>
                  <a:schemeClr val="accent2"/>
                </a:solidFill>
              </a:rPr>
              <a:t>가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389DF3-F3DF-4E3C-9123-091B29B1D3F1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6A034E-5C23-4746-8913-75033535F0E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2379283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79898-3042-4232-B004-D753A5A80458}"/>
              </a:ext>
            </a:extLst>
          </p:cNvPr>
          <p:cNvSpPr txBox="1"/>
          <p:nvPr/>
        </p:nvSpPr>
        <p:spPr>
          <a:xfrm>
            <a:off x="3812967" y="2871367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귀찮은 요약은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2"/>
                </a:solidFill>
              </a:rPr>
              <a:t>AI</a:t>
            </a:r>
            <a:r>
              <a:rPr lang="ko-KR" altLang="en-US" dirty="0">
                <a:solidFill>
                  <a:schemeClr val="accent2"/>
                </a:solidFill>
              </a:rPr>
              <a:t>가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ABA8FC-1732-427C-93A6-8B5938C96B7F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ECF391-1510-42A6-8B33-7437D72516ED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5EF5F8-2D62-4456-88A2-DF017E0C5C53}"/>
              </a:ext>
            </a:extLst>
          </p:cNvPr>
          <p:cNvSpPr txBox="1"/>
          <p:nvPr/>
        </p:nvSpPr>
        <p:spPr>
          <a:xfrm>
            <a:off x="6440897" y="3047766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 err="1">
                <a:solidFill>
                  <a:schemeClr val="accent2"/>
                </a:solidFill>
              </a:rPr>
              <a:t>커밋</a:t>
            </a:r>
            <a:r>
              <a:rPr lang="ko-KR" altLang="en-US" dirty="0" err="1"/>
              <a:t>까지</a:t>
            </a:r>
            <a:r>
              <a:rPr lang="ko-KR" altLang="en-US" dirty="0"/>
              <a:t> 연결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955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D1EA3-3B96-432A-812B-21EC5C48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613"/>
          </a:xfrm>
        </p:spPr>
        <p:txBody>
          <a:bodyPr>
            <a:normAutofit/>
          </a:bodyPr>
          <a:lstStyle/>
          <a:p>
            <a:r>
              <a:rPr lang="ko-KR" altLang="en-US" dirty="0"/>
              <a:t>기존 서비스 한계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C2CA3F-2C8C-4701-A069-018D24497FC2}"/>
              </a:ext>
            </a:extLst>
          </p:cNvPr>
          <p:cNvSpPr/>
          <p:nvPr/>
        </p:nvSpPr>
        <p:spPr>
          <a:xfrm>
            <a:off x="838200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19BB4-44E1-4705-8D03-4C47A4B225A5}"/>
              </a:ext>
            </a:extLst>
          </p:cNvPr>
          <p:cNvSpPr txBox="1"/>
          <p:nvPr/>
        </p:nvSpPr>
        <p:spPr>
          <a:xfrm>
            <a:off x="1203940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1.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지식 수집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5B39D6-F5B6-4196-8427-E3C71A2E1547}"/>
              </a:ext>
            </a:extLst>
          </p:cNvPr>
          <p:cNvSpPr/>
          <p:nvPr/>
        </p:nvSpPr>
        <p:spPr>
          <a:xfrm>
            <a:off x="3477571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3FCA4-4AD4-49FC-9AC9-6410952D17EB}"/>
              </a:ext>
            </a:extLst>
          </p:cNvPr>
          <p:cNvSpPr txBox="1"/>
          <p:nvPr/>
        </p:nvSpPr>
        <p:spPr>
          <a:xfrm>
            <a:off x="3847783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2. </a:t>
            </a:r>
            <a:r>
              <a:rPr lang="ko-KR" altLang="en-US" dirty="0">
                <a:solidFill>
                  <a:schemeClr val="accent1"/>
                </a:solidFill>
              </a:rPr>
              <a:t>지식 구조화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993430-40FF-41CD-84BC-74085F9EDFC2}"/>
              </a:ext>
            </a:extLst>
          </p:cNvPr>
          <p:cNvSpPr/>
          <p:nvPr/>
        </p:nvSpPr>
        <p:spPr>
          <a:xfrm>
            <a:off x="6116942" y="1606630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55EBD-838C-4A5B-9133-2E8E2A340B5A}"/>
              </a:ext>
            </a:extLst>
          </p:cNvPr>
          <p:cNvSpPr txBox="1"/>
          <p:nvPr/>
        </p:nvSpPr>
        <p:spPr>
          <a:xfrm>
            <a:off x="6485244" y="1692129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3. </a:t>
            </a:r>
            <a:r>
              <a:rPr lang="ko-KR" altLang="en-US" dirty="0">
                <a:solidFill>
                  <a:schemeClr val="accent1"/>
                </a:solidFill>
              </a:rPr>
              <a:t>기록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945D91-C468-4976-AA3C-90E3E4BAA4B8}"/>
              </a:ext>
            </a:extLst>
          </p:cNvPr>
          <p:cNvSpPr/>
          <p:nvPr/>
        </p:nvSpPr>
        <p:spPr>
          <a:xfrm>
            <a:off x="8756312" y="1606629"/>
            <a:ext cx="2597488" cy="503973"/>
          </a:xfrm>
          <a:prstGeom prst="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E4AAF-B3FB-4DCC-9047-3D0E965274FC}"/>
              </a:ext>
            </a:extLst>
          </p:cNvPr>
          <p:cNvSpPr txBox="1"/>
          <p:nvPr/>
        </p:nvSpPr>
        <p:spPr>
          <a:xfrm>
            <a:off x="9117611" y="1692127"/>
            <a:ext cx="186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>
                <a:solidFill>
                  <a:schemeClr val="accent1"/>
                </a:solidFill>
              </a:rPr>
              <a:t>4. </a:t>
            </a:r>
            <a:r>
              <a:rPr lang="ko-KR" altLang="en-US" dirty="0">
                <a:solidFill>
                  <a:schemeClr val="accent1"/>
                </a:solidFill>
              </a:rPr>
              <a:t>지식 리콜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A6566-C0F4-4C3A-B730-8DB47E52A451}"/>
              </a:ext>
            </a:extLst>
          </p:cNvPr>
          <p:cNvSpPr txBox="1"/>
          <p:nvPr/>
        </p:nvSpPr>
        <p:spPr>
          <a:xfrm>
            <a:off x="982203" y="3632379"/>
            <a:ext cx="23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맥락 없는 정보의 파편화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2F54F-DF52-4D0C-AE94-209EF52828F4}"/>
              </a:ext>
            </a:extLst>
          </p:cNvPr>
          <p:cNvSpPr txBox="1"/>
          <p:nvPr/>
        </p:nvSpPr>
        <p:spPr>
          <a:xfrm>
            <a:off x="3833806" y="3632379"/>
            <a:ext cx="187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수동 분류의 피로도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AEA30-6D97-4C84-8655-EC028E6E868B}"/>
              </a:ext>
            </a:extLst>
          </p:cNvPr>
          <p:cNvSpPr txBox="1"/>
          <p:nvPr/>
        </p:nvSpPr>
        <p:spPr>
          <a:xfrm>
            <a:off x="8794840" y="3632379"/>
            <a:ext cx="252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활용되지 않는 사장된 지식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29234-6EEF-499D-9602-D66645552D79}"/>
              </a:ext>
            </a:extLst>
          </p:cNvPr>
          <p:cNvSpPr txBox="1"/>
          <p:nvPr/>
        </p:nvSpPr>
        <p:spPr>
          <a:xfrm>
            <a:off x="6321474" y="3632379"/>
            <a:ext cx="218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ko-KR" altLang="en-US" dirty="0"/>
              <a:t>단절된 기록</a:t>
            </a:r>
            <a:r>
              <a:rPr lang="en-US" altLang="ko-KR" dirty="0"/>
              <a:t>-</a:t>
            </a:r>
            <a:r>
              <a:rPr lang="ko-KR" altLang="en-US" dirty="0"/>
              <a:t>학습 흐름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0CB9AC-2874-4630-9647-1B4C7EE1B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83" y="2481219"/>
            <a:ext cx="864689" cy="864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4189DB-113C-4170-876E-90D64BD9A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30" y="2499906"/>
            <a:ext cx="827314" cy="8273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4BD0FD-FFCF-4237-BF8B-0341EF3C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41" y="2474618"/>
            <a:ext cx="877889" cy="8778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77CA75-0316-4D8D-B83F-DFBD4EA84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23" y="2429870"/>
            <a:ext cx="967384" cy="9673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382EB5-82CD-4467-B044-300F84FF6D99}"/>
              </a:ext>
            </a:extLst>
          </p:cNvPr>
          <p:cNvSpPr/>
          <p:nvPr/>
        </p:nvSpPr>
        <p:spPr>
          <a:xfrm>
            <a:off x="838200" y="2132362"/>
            <a:ext cx="2592472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D9C87-CF8F-4CFF-A621-596ACCF9DA50}"/>
              </a:ext>
            </a:extLst>
          </p:cNvPr>
          <p:cNvSpPr txBox="1"/>
          <p:nvPr/>
        </p:nvSpPr>
        <p:spPr>
          <a:xfrm>
            <a:off x="1174878" y="3047768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2"/>
                </a:solidFill>
                <a:latin typeface="+mj-ea"/>
                <a:ea typeface="+mj-ea"/>
              </a:rPr>
              <a:t>원탭</a:t>
            </a:r>
            <a:r>
              <a:rPr lang="ko-KR" altLang="en-US" sz="24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지식 수집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F72E83-6EBE-4350-AC05-3AC55AB2FB23}"/>
              </a:ext>
            </a:extLst>
          </p:cNvPr>
          <p:cNvSpPr/>
          <p:nvPr/>
        </p:nvSpPr>
        <p:spPr>
          <a:xfrm>
            <a:off x="3477570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79898-3042-4232-B004-D753A5A80458}"/>
              </a:ext>
            </a:extLst>
          </p:cNvPr>
          <p:cNvSpPr txBox="1"/>
          <p:nvPr/>
        </p:nvSpPr>
        <p:spPr>
          <a:xfrm>
            <a:off x="3812967" y="2871367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귀찮은 요약은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2"/>
                </a:solidFill>
              </a:rPr>
              <a:t>AI</a:t>
            </a:r>
            <a:r>
              <a:rPr lang="ko-KR" altLang="en-US" dirty="0">
                <a:solidFill>
                  <a:schemeClr val="accent2"/>
                </a:solidFill>
              </a:rPr>
              <a:t>가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1CFE50-4CAA-4BFB-AE94-DE12AE43CB64}"/>
              </a:ext>
            </a:extLst>
          </p:cNvPr>
          <p:cNvSpPr/>
          <p:nvPr/>
        </p:nvSpPr>
        <p:spPr>
          <a:xfrm>
            <a:off x="6116941" y="2132362"/>
            <a:ext cx="2590181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DC4A23-BC55-404A-939D-0CF41EE9279F}"/>
              </a:ext>
            </a:extLst>
          </p:cNvPr>
          <p:cNvSpPr/>
          <p:nvPr/>
        </p:nvSpPr>
        <p:spPr>
          <a:xfrm>
            <a:off x="8756313" y="2132362"/>
            <a:ext cx="2597488" cy="2309009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1397A3-CF93-4EF3-9466-D4BE29B46674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086456-F6D9-4F6B-AF09-328F0920D86B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4F78C-3BF4-4753-99E5-A10C86889446}"/>
              </a:ext>
            </a:extLst>
          </p:cNvPr>
          <p:cNvSpPr txBox="1"/>
          <p:nvPr/>
        </p:nvSpPr>
        <p:spPr>
          <a:xfrm>
            <a:off x="9041364" y="3047767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</a:rPr>
              <a:t>까먹기 전 </a:t>
            </a:r>
            <a:r>
              <a:rPr lang="ko-KR" altLang="en-US" dirty="0">
                <a:solidFill>
                  <a:schemeClr val="accent2"/>
                </a:solidFill>
              </a:rPr>
              <a:t>복습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0AAA9D-70C3-4920-B0BD-5EB716985646}"/>
              </a:ext>
            </a:extLst>
          </p:cNvPr>
          <p:cNvSpPr txBox="1"/>
          <p:nvPr/>
        </p:nvSpPr>
        <p:spPr>
          <a:xfrm>
            <a:off x="6440897" y="3047766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 err="1">
                <a:solidFill>
                  <a:schemeClr val="accent2"/>
                </a:solidFill>
              </a:rPr>
              <a:t>커밋</a:t>
            </a:r>
            <a:r>
              <a:rPr lang="ko-KR" altLang="en-US" dirty="0" err="1"/>
              <a:t>까지</a:t>
            </a:r>
            <a:r>
              <a:rPr lang="ko-KR" altLang="en-US" dirty="0"/>
              <a:t> 연결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5564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D75F367-890F-47FC-BB2E-9ABA79FD5414}"/>
              </a:ext>
            </a:extLst>
          </p:cNvPr>
          <p:cNvGrpSpPr/>
          <p:nvPr/>
        </p:nvGrpSpPr>
        <p:grpSpPr>
          <a:xfrm>
            <a:off x="3802828" y="2716929"/>
            <a:ext cx="4586344" cy="1212318"/>
            <a:chOff x="3770812" y="2716929"/>
            <a:chExt cx="4586344" cy="12123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AE2618A-4CF6-4545-8483-9DFF0FF0F644}"/>
                </a:ext>
              </a:extLst>
            </p:cNvPr>
            <p:cNvGrpSpPr/>
            <p:nvPr/>
          </p:nvGrpSpPr>
          <p:grpSpPr>
            <a:xfrm>
              <a:off x="5243972" y="2802245"/>
              <a:ext cx="3113184" cy="1041686"/>
              <a:chOff x="5243972" y="2811448"/>
              <a:chExt cx="3113184" cy="1041686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75325632-1F36-4645-91E1-77BB8B464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065" b="88710" l="3733" r="97512">
                            <a14:foregroundMark x1="70762" y1="46774" x2="70762" y2="46774"/>
                            <a14:foregroundMark x1="77605" y1="43548" x2="77605" y2="43548"/>
                            <a14:foregroundMark x1="41680" y1="29032" x2="41680" y2="29032"/>
                            <a14:foregroundMark x1="46345" y1="45161" x2="46345" y2="45161"/>
                            <a14:foregroundMark x1="53655" y1="41935" x2="53655" y2="41935"/>
                            <a14:foregroundMark x1="83359" y1="43548" x2="83359" y2="43548"/>
                            <a14:foregroundMark x1="84137" y1="25806" x2="84137" y2="25806"/>
                            <a14:foregroundMark x1="87869" y1="45161" x2="87869" y2="45161"/>
                            <a14:foregroundMark x1="94090" y1="54839" x2="94090" y2="54839"/>
                            <a14:foregroundMark x1="97667" y1="43548" x2="97667" y2="43548"/>
                            <a14:foregroundMark x1="3733" y1="43548" x2="3733" y2="43548"/>
                            <a14:foregroundMark x1="10264" y1="50000" x2="10264" y2="50000"/>
                            <a14:foregroundMark x1="16485" y1="45161" x2="16485" y2="45161"/>
                            <a14:foregroundMark x1="23795" y1="40323" x2="23795" y2="40323"/>
                            <a14:foregroundMark x1="28616" y1="48387" x2="28616" y2="48387"/>
                            <a14:foregroundMark x1="68118" y1="46774" x2="68118" y2="46774"/>
                            <a14:backgroundMark x1="23484" y1="66129" x2="23484" y2="66129"/>
                            <a14:backgroundMark x1="30793" y1="54839" x2="30793" y2="54839"/>
                            <a14:backgroundMark x1="40280" y1="45161" x2="40280" y2="45161"/>
                            <a14:backgroundMark x1="25039" y1="74194" x2="25039" y2="74194"/>
                            <a14:backgroundMark x1="56454" y1="85484" x2="56454" y2="85484"/>
                            <a14:backgroundMark x1="91446" y1="61290" x2="91446" y2="61290"/>
                            <a14:backgroundMark x1="8709" y1="40323" x2="8709" y2="40323"/>
                            <a14:backgroundMark x1="56610" y1="87097" x2="56610" y2="87097"/>
                            <a14:backgroundMark x1="59409" y1="16129" x2="59409" y2="16129"/>
                            <a14:backgroundMark x1="1400" y1="43548" x2="1400" y2="43548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243972" y="3552952"/>
                <a:ext cx="3113179" cy="300182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DC26E1E9-4AB0-4406-86E3-CAB03E2183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3972" y="2811448"/>
                <a:ext cx="3113184" cy="741504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1304399-D833-4595-B596-9B3538B91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0812" y="2716929"/>
              <a:ext cx="1212318" cy="1212318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2966C5-F827-4EE1-A9E2-9F9D7633B448}"/>
              </a:ext>
            </a:extLst>
          </p:cNvPr>
          <p:cNvSpPr/>
          <p:nvPr/>
        </p:nvSpPr>
        <p:spPr>
          <a:xfrm>
            <a:off x="3587750" y="1882986"/>
            <a:ext cx="2124075" cy="471923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부제목 2">
            <a:extLst>
              <a:ext uri="{FF2B5EF4-FFF2-40B4-BE49-F238E27FC236}">
                <a16:creationId xmlns:a16="http://schemas.microsoft.com/office/drawing/2014/main" id="{D423E7B5-7D6F-4C27-8C98-5EB93A48CF36}"/>
              </a:ext>
            </a:extLst>
          </p:cNvPr>
          <p:cNvSpPr txBox="1">
            <a:spLocks/>
          </p:cNvSpPr>
          <p:nvPr/>
        </p:nvSpPr>
        <p:spPr>
          <a:xfrm>
            <a:off x="3073401" y="1783365"/>
            <a:ext cx="6045200" cy="571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800" dirty="0">
                <a:latin typeface="+mj-ea"/>
                <a:ea typeface="+mj-ea"/>
              </a:rPr>
              <a:t>개발자</a:t>
            </a:r>
            <a:r>
              <a:rPr lang="ko-KR" altLang="en-US" sz="2800" dirty="0">
                <a:latin typeface="+mn-ea"/>
              </a:rPr>
              <a:t>를 위한</a:t>
            </a:r>
            <a:r>
              <a:rPr lang="en-US" altLang="ko-KR" sz="2800" dirty="0">
                <a:latin typeface="+mn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AI </a:t>
            </a:r>
            <a:r>
              <a:rPr lang="ko-KR" altLang="en-US" sz="2800" dirty="0">
                <a:latin typeface="+mj-ea"/>
                <a:ea typeface="+mj-ea"/>
              </a:rPr>
              <a:t>지식 리콜 서비스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68D678-690E-4044-9B45-00ABDCD4B01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2. </a:t>
            </a:r>
            <a:r>
              <a:rPr lang="ko-KR" altLang="en-US" dirty="0"/>
              <a:t>기존 서비스 한계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DEEF54-D56F-4F3D-AA88-DF6DE6ECC89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●●○○○○</a:t>
            </a:r>
          </a:p>
        </p:txBody>
      </p:sp>
    </p:spTree>
    <p:extLst>
      <p:ext uri="{BB962C8B-B14F-4D97-AF65-F5344CB8AC3E}">
        <p14:creationId xmlns:p14="http://schemas.microsoft.com/office/powerpoint/2010/main" val="204775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42A80-57ED-433D-B662-E3FCD962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지식의 뿌리를 내리는 여정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FD77C5-72AC-4230-9BA1-ECC1E23A08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80" y="3014906"/>
            <a:ext cx="1450497" cy="1450497"/>
          </a:xfrm>
          <a:prstGeom prst="rect">
            <a:avLst/>
          </a:prstGeom>
          <a:effectLst>
            <a:outerShdw blurRad="190500" dist="190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740BA04-E97E-49F7-ACB9-23600B9CFC3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716" y="2750639"/>
            <a:ext cx="2487989" cy="2487989"/>
          </a:xfrm>
          <a:prstGeom prst="rect">
            <a:avLst/>
          </a:prstGeom>
          <a:effectLst>
            <a:outerShdw blurRad="190500" dist="190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D87125-AECF-444E-B80B-EDA541617C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211" y="3404581"/>
            <a:ext cx="859288" cy="859288"/>
          </a:xfrm>
          <a:prstGeom prst="rect">
            <a:avLst/>
          </a:prstGeom>
          <a:effectLst>
            <a:outerShdw blurRad="190500" dist="190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EC3AF8-784E-4D50-916C-56141AB0CF2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73" y="3540032"/>
            <a:ext cx="588386" cy="588386"/>
          </a:xfrm>
          <a:prstGeom prst="rect">
            <a:avLst/>
          </a:prstGeom>
          <a:effectLst>
            <a:outerShdw blurRad="190500" dist="190500" dir="5400000" sx="90000" sy="-19000" rotWithShape="0">
              <a:prstClr val="black">
                <a:alpha val="15000"/>
              </a:prstClr>
            </a:outerShdw>
          </a:effectLst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2901D253-B7B6-4312-976D-80A49AC8E350}"/>
              </a:ext>
            </a:extLst>
          </p:cNvPr>
          <p:cNvGrpSpPr/>
          <p:nvPr/>
        </p:nvGrpSpPr>
        <p:grpSpPr>
          <a:xfrm>
            <a:off x="980676" y="1746599"/>
            <a:ext cx="10159224" cy="515432"/>
            <a:chOff x="1194576" y="1747566"/>
            <a:chExt cx="10159224" cy="515432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2848BAB-CC59-4826-8499-5CD75CED4C4E}"/>
                </a:ext>
              </a:extLst>
            </p:cNvPr>
            <p:cNvGrpSpPr/>
            <p:nvPr/>
          </p:nvGrpSpPr>
          <p:grpSpPr>
            <a:xfrm>
              <a:off x="1194576" y="1747566"/>
              <a:ext cx="10159224" cy="515432"/>
              <a:chOff x="1651124" y="4976659"/>
              <a:chExt cx="8805345" cy="515432"/>
            </a:xfrm>
            <a:gradFill flip="none" rotWithShape="1">
              <a:gsLst>
                <a:gs pos="0">
                  <a:schemeClr val="accent1">
                    <a:lumMod val="5000"/>
                    <a:lumOff val="95000"/>
                    <a:alpha val="80000"/>
                  </a:schemeClr>
                </a:gs>
                <a:gs pos="76000">
                  <a:schemeClr val="accent1">
                    <a:lumMod val="45000"/>
                    <a:lumOff val="55000"/>
                    <a:alpha val="80000"/>
                  </a:schemeClr>
                </a:gs>
                <a:gs pos="100000">
                  <a:schemeClr val="accent1">
                    <a:lumMod val="45000"/>
                    <a:lumOff val="55000"/>
                    <a:alpha val="64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p:grpSpPr>
          <p:sp>
            <p:nvSpPr>
              <p:cNvPr id="19" name="화살표: 오각형 18">
                <a:extLst>
                  <a:ext uri="{FF2B5EF4-FFF2-40B4-BE49-F238E27FC236}">
                    <a16:creationId xmlns:a16="http://schemas.microsoft.com/office/drawing/2014/main" id="{0039221D-594C-416A-B4AD-3B6B4FFDD138}"/>
                  </a:ext>
                </a:extLst>
              </p:cNvPr>
              <p:cNvSpPr/>
              <p:nvPr/>
            </p:nvSpPr>
            <p:spPr>
              <a:xfrm>
                <a:off x="1651124" y="4976659"/>
                <a:ext cx="2250201" cy="515432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화살표: 갈매기형 수장 19">
                <a:extLst>
                  <a:ext uri="{FF2B5EF4-FFF2-40B4-BE49-F238E27FC236}">
                    <a16:creationId xmlns:a16="http://schemas.microsoft.com/office/drawing/2014/main" id="{6874D42E-8D6D-4855-9426-53A0ED793043}"/>
                  </a:ext>
                </a:extLst>
              </p:cNvPr>
              <p:cNvSpPr/>
              <p:nvPr/>
            </p:nvSpPr>
            <p:spPr>
              <a:xfrm>
                <a:off x="3836172" y="4976659"/>
                <a:ext cx="2250201" cy="515432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화살표: 갈매기형 수장 20">
                <a:extLst>
                  <a:ext uri="{FF2B5EF4-FFF2-40B4-BE49-F238E27FC236}">
                    <a16:creationId xmlns:a16="http://schemas.microsoft.com/office/drawing/2014/main" id="{FA347CFC-0DCB-4AFB-860F-4114CCC60B04}"/>
                  </a:ext>
                </a:extLst>
              </p:cNvPr>
              <p:cNvSpPr/>
              <p:nvPr/>
            </p:nvSpPr>
            <p:spPr>
              <a:xfrm>
                <a:off x="6021220" y="4976659"/>
                <a:ext cx="2250201" cy="515432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화살표: 갈매기형 수장 21">
                <a:extLst>
                  <a:ext uri="{FF2B5EF4-FFF2-40B4-BE49-F238E27FC236}">
                    <a16:creationId xmlns:a16="http://schemas.microsoft.com/office/drawing/2014/main" id="{6838B913-1FB7-491D-9B79-6B1A518FD6B8}"/>
                  </a:ext>
                </a:extLst>
              </p:cNvPr>
              <p:cNvSpPr/>
              <p:nvPr/>
            </p:nvSpPr>
            <p:spPr>
              <a:xfrm>
                <a:off x="8206268" y="4976659"/>
                <a:ext cx="2250201" cy="515432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00A5AE-CC6E-4453-B25D-113EA990D5D5}"/>
                </a:ext>
              </a:extLst>
            </p:cNvPr>
            <p:cNvSpPr txBox="1"/>
            <p:nvPr/>
          </p:nvSpPr>
          <p:spPr>
            <a:xfrm>
              <a:off x="2201562" y="1822850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수집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2A894F-B69C-49B3-8812-A545EE7D5A99}"/>
                </a:ext>
              </a:extLst>
            </p:cNvPr>
            <p:cNvSpPr txBox="1"/>
            <p:nvPr/>
          </p:nvSpPr>
          <p:spPr>
            <a:xfrm>
              <a:off x="7219614" y="1820892"/>
              <a:ext cx="588386" cy="373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연결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ECDE5F-D066-4259-921A-11A734ECE510}"/>
                </a:ext>
              </a:extLst>
            </p:cNvPr>
            <p:cNvSpPr txBox="1"/>
            <p:nvPr/>
          </p:nvSpPr>
          <p:spPr>
            <a:xfrm>
              <a:off x="4740376" y="1820892"/>
              <a:ext cx="588386" cy="373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분석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EA5ABF-D3BD-4730-963E-A5501228C501}"/>
                </a:ext>
              </a:extLst>
            </p:cNvPr>
            <p:cNvSpPr txBox="1"/>
            <p:nvPr/>
          </p:nvSpPr>
          <p:spPr>
            <a:xfrm>
              <a:off x="9778068" y="1820892"/>
              <a:ext cx="588386" cy="373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+mj-ea"/>
                  <a:ea typeface="+mj-ea"/>
                </a:rPr>
                <a:t>확장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FD5C796-31F9-4D76-9806-1E8918266C24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19F223-E3C0-49AB-B1A6-E85C721DB284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212316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70" y="2260620"/>
            <a:ext cx="3702050" cy="4003238"/>
          </a:xfrm>
          <a:prstGeom prst="rect">
            <a:avLst/>
          </a:prstGeom>
        </p:spPr>
      </p:pic>
      <p:sp>
        <p:nvSpPr>
          <p:cNvPr id="11" name="사각형: 둥근 대각선 방향 모서리 10">
            <a:extLst>
              <a:ext uri="{FF2B5EF4-FFF2-40B4-BE49-F238E27FC236}">
                <a16:creationId xmlns:a16="http://schemas.microsoft.com/office/drawing/2014/main" id="{F7F5F4D2-EDE0-416F-A150-4635D8BBC696}"/>
              </a:ext>
            </a:extLst>
          </p:cNvPr>
          <p:cNvSpPr/>
          <p:nvPr/>
        </p:nvSpPr>
        <p:spPr>
          <a:xfrm>
            <a:off x="6264731" y="2873368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대각선 방향 모서리 14">
            <a:extLst>
              <a:ext uri="{FF2B5EF4-FFF2-40B4-BE49-F238E27FC236}">
                <a16:creationId xmlns:a16="http://schemas.microsoft.com/office/drawing/2014/main" id="{C04EC139-B9A5-48E8-9A5F-48D8B8D1369D}"/>
              </a:ext>
            </a:extLst>
          </p:cNvPr>
          <p:cNvSpPr/>
          <p:nvPr/>
        </p:nvSpPr>
        <p:spPr>
          <a:xfrm>
            <a:off x="5602938" y="1511321"/>
            <a:ext cx="1394980" cy="98151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대각선 방향 모서리 13">
            <a:extLst>
              <a:ext uri="{FF2B5EF4-FFF2-40B4-BE49-F238E27FC236}">
                <a16:creationId xmlns:a16="http://schemas.microsoft.com/office/drawing/2014/main" id="{A11024BC-0FC8-4556-844F-3CA662ED8FB3}"/>
              </a:ext>
            </a:extLst>
          </p:cNvPr>
          <p:cNvSpPr/>
          <p:nvPr/>
        </p:nvSpPr>
        <p:spPr>
          <a:xfrm flipH="1">
            <a:off x="3923358" y="1771044"/>
            <a:ext cx="1417844" cy="106356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046454F-4FED-4636-9406-6959B5FA8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875" y="2224252"/>
            <a:ext cx="529815" cy="509119"/>
          </a:xfrm>
          <a:prstGeom prst="rect">
            <a:avLst/>
          </a:prstGeom>
        </p:spPr>
      </p:pic>
      <p:sp>
        <p:nvSpPr>
          <p:cNvPr id="12" name="사각형: 둥근 대각선 방향 모서리 11">
            <a:extLst>
              <a:ext uri="{FF2B5EF4-FFF2-40B4-BE49-F238E27FC236}">
                <a16:creationId xmlns:a16="http://schemas.microsoft.com/office/drawing/2014/main" id="{A13A6D2A-58B8-452F-AAF6-58ECC642DF86}"/>
              </a:ext>
            </a:extLst>
          </p:cNvPr>
          <p:cNvSpPr/>
          <p:nvPr/>
        </p:nvSpPr>
        <p:spPr>
          <a:xfrm flipH="1">
            <a:off x="3693361" y="3097556"/>
            <a:ext cx="1416051" cy="9334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954C7A-A074-4584-8953-0EDB75FE5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252" y="3500848"/>
            <a:ext cx="414268" cy="414268"/>
          </a:xfrm>
          <a:prstGeom prst="rect">
            <a:avLst/>
          </a:prstGeom>
        </p:spPr>
      </p:pic>
      <p:sp>
        <p:nvSpPr>
          <p:cNvPr id="13" name="사각형: 둥근 대각선 방향 모서리 12">
            <a:extLst>
              <a:ext uri="{FF2B5EF4-FFF2-40B4-BE49-F238E27FC236}">
                <a16:creationId xmlns:a16="http://schemas.microsoft.com/office/drawing/2014/main" id="{EEF08CA9-6DFA-44AA-BB1C-4FD760F91E66}"/>
              </a:ext>
            </a:extLst>
          </p:cNvPr>
          <p:cNvSpPr/>
          <p:nvPr/>
        </p:nvSpPr>
        <p:spPr>
          <a:xfrm>
            <a:off x="6781956" y="3357982"/>
            <a:ext cx="1416050" cy="9815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C42FA80-0FE0-4778-979C-49A0C81F18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9165" y="3741859"/>
            <a:ext cx="481631" cy="481631"/>
          </a:xfrm>
          <a:prstGeom prst="rect">
            <a:avLst/>
          </a:prstGeom>
        </p:spPr>
      </p:pic>
      <p:sp>
        <p:nvSpPr>
          <p:cNvPr id="8" name="사각형: 둥근 대각선 방향 모서리 7">
            <a:extLst>
              <a:ext uri="{FF2B5EF4-FFF2-40B4-BE49-F238E27FC236}">
                <a16:creationId xmlns:a16="http://schemas.microsoft.com/office/drawing/2014/main" id="{2EF3E47F-442E-475F-B7CC-F3585BFC057D}"/>
              </a:ext>
            </a:extLst>
          </p:cNvPr>
          <p:cNvSpPr/>
          <p:nvPr/>
        </p:nvSpPr>
        <p:spPr>
          <a:xfrm>
            <a:off x="7182489" y="1846242"/>
            <a:ext cx="1491612" cy="9815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25455A6-E3A8-4ACB-9DE6-036C34A6E3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9352" y="2251561"/>
            <a:ext cx="477886" cy="477886"/>
          </a:xfrm>
          <a:prstGeom prst="rect">
            <a:avLst/>
          </a:prstGeom>
        </p:spPr>
      </p:pic>
      <p:sp>
        <p:nvSpPr>
          <p:cNvPr id="31" name="사각형: 둥근 대각선 방향 모서리 30">
            <a:extLst>
              <a:ext uri="{FF2B5EF4-FFF2-40B4-BE49-F238E27FC236}">
                <a16:creationId xmlns:a16="http://schemas.microsoft.com/office/drawing/2014/main" id="{1A6C6E69-C999-47CE-868C-A607824453FD}"/>
              </a:ext>
            </a:extLst>
          </p:cNvPr>
          <p:cNvSpPr/>
          <p:nvPr/>
        </p:nvSpPr>
        <p:spPr>
          <a:xfrm flipH="1">
            <a:off x="5284444" y="3170006"/>
            <a:ext cx="625625" cy="44494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101D50-722B-4DC5-9755-4E1639431D9D}"/>
              </a:ext>
            </a:extLst>
          </p:cNvPr>
          <p:cNvSpPr txBox="1"/>
          <p:nvPr/>
        </p:nvSpPr>
        <p:spPr>
          <a:xfrm>
            <a:off x="3790211" y="1848893"/>
            <a:ext cx="1579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빠른 스크랩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99CCCA-E45E-4409-9284-42DF617FC516}"/>
              </a:ext>
            </a:extLst>
          </p:cNvPr>
          <p:cNvSpPr txBox="1"/>
          <p:nvPr/>
        </p:nvSpPr>
        <p:spPr>
          <a:xfrm>
            <a:off x="3578286" y="3149009"/>
            <a:ext cx="1579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8C647F-8A07-45F0-956E-F5F0ECFB8BFF}"/>
              </a:ext>
            </a:extLst>
          </p:cNvPr>
          <p:cNvSpPr txBox="1"/>
          <p:nvPr/>
        </p:nvSpPr>
        <p:spPr>
          <a:xfrm>
            <a:off x="7268239" y="1922066"/>
            <a:ext cx="1459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GITHUB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연동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9D9923-BE78-45A8-B5E7-73EED1A9057C}"/>
              </a:ext>
            </a:extLst>
          </p:cNvPr>
          <p:cNvSpPr txBox="1"/>
          <p:nvPr/>
        </p:nvSpPr>
        <p:spPr>
          <a:xfrm>
            <a:off x="6760155" y="3416317"/>
            <a:ext cx="1459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복습 알림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0E04CD8-16B4-466D-8219-AA596A3299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175" y="1815617"/>
            <a:ext cx="621584" cy="62158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90A7F35-672D-480E-B329-0E5B1BDA9AFE}"/>
              </a:ext>
            </a:extLst>
          </p:cNvPr>
          <p:cNvSpPr txBox="1"/>
          <p:nvPr/>
        </p:nvSpPr>
        <p:spPr>
          <a:xfrm>
            <a:off x="5581143" y="1537697"/>
            <a:ext cx="1459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시각화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4D1E07-7F6F-45A3-9D6E-EE9C22A14984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D7CB4C-EE21-4DFF-AA6C-2B94DB727D80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1209177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47C166-E30E-45AB-B922-8043CBB6395F}"/>
              </a:ext>
            </a:extLst>
          </p:cNvPr>
          <p:cNvSpPr/>
          <p:nvPr/>
        </p:nvSpPr>
        <p:spPr>
          <a:xfrm>
            <a:off x="5361451" y="2209438"/>
            <a:ext cx="3668959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복습 알림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5C403-394C-48D8-B9AD-AE49AA22EB6A}"/>
              </a:ext>
            </a:extLst>
          </p:cNvPr>
          <p:cNvSpPr txBox="1"/>
          <p:nvPr/>
        </p:nvSpPr>
        <p:spPr>
          <a:xfrm>
            <a:off x="3802418" y="2165340"/>
            <a:ext cx="6781242" cy="730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하루에 한 번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사용자가 지정한 시간에 </a:t>
            </a:r>
            <a:r>
              <a:rPr lang="ko-KR" altLang="en-US" b="1" dirty="0">
                <a:solidFill>
                  <a:schemeClr val="bg1"/>
                </a:solidFill>
              </a:rPr>
              <a:t>복습 알림</a:t>
            </a:r>
            <a:r>
              <a:rPr lang="ko-KR" altLang="en-US" dirty="0">
                <a:solidFill>
                  <a:schemeClr val="bg1"/>
                </a:solidFill>
              </a:rPr>
              <a:t>을 발송합니다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망각 곡선에 기반</a:t>
            </a:r>
            <a:r>
              <a:rPr lang="ko-KR" altLang="en-US" dirty="0">
                <a:solidFill>
                  <a:schemeClr val="bg1"/>
                </a:solidFill>
              </a:rPr>
              <a:t>하여 스크랩한 지식에 대한 </a:t>
            </a:r>
            <a:r>
              <a:rPr lang="ko-KR" altLang="en-US" b="1" dirty="0">
                <a:solidFill>
                  <a:schemeClr val="bg1"/>
                </a:solidFill>
              </a:rPr>
              <a:t>퀴즈</a:t>
            </a:r>
            <a:r>
              <a:rPr lang="ko-KR" altLang="en-US" dirty="0">
                <a:solidFill>
                  <a:schemeClr val="bg1"/>
                </a:solidFill>
              </a:rPr>
              <a:t>를 생성합니다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1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4" name="사각형: 둥근 대각선 방향 모서리 23">
            <a:extLst>
              <a:ext uri="{FF2B5EF4-FFF2-40B4-BE49-F238E27FC236}">
                <a16:creationId xmlns:a16="http://schemas.microsoft.com/office/drawing/2014/main" id="{8AF284DB-005C-4C45-AA15-EEF2E9C8C34E}"/>
              </a:ext>
            </a:extLst>
          </p:cNvPr>
          <p:cNvSpPr/>
          <p:nvPr/>
        </p:nvSpPr>
        <p:spPr>
          <a:xfrm>
            <a:off x="874107" y="2399840"/>
            <a:ext cx="2070080" cy="1467559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EAD4CFD-81EB-4C17-80E5-29EA5B2F8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678" y="2569392"/>
            <a:ext cx="1128454" cy="11284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688CD3-B26F-477B-9965-744F4547CDA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31" t="3539" r="1947" b="2773"/>
          <a:stretch/>
        </p:blipFill>
        <p:spPr>
          <a:xfrm>
            <a:off x="5048310" y="3130822"/>
            <a:ext cx="4289458" cy="2600795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35" name="사각형: 둥근 대각선 방향 모서리 34">
            <a:extLst>
              <a:ext uri="{FF2B5EF4-FFF2-40B4-BE49-F238E27FC236}">
                <a16:creationId xmlns:a16="http://schemas.microsoft.com/office/drawing/2014/main" id="{6E61DF07-6314-447C-AC00-36116C0EACCD}"/>
              </a:ext>
            </a:extLst>
          </p:cNvPr>
          <p:cNvSpPr/>
          <p:nvPr/>
        </p:nvSpPr>
        <p:spPr>
          <a:xfrm>
            <a:off x="-77151" y="2808633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대각선 방향 모서리 35">
            <a:extLst>
              <a:ext uri="{FF2B5EF4-FFF2-40B4-BE49-F238E27FC236}">
                <a16:creationId xmlns:a16="http://schemas.microsoft.com/office/drawing/2014/main" id="{65F75581-7353-4A56-9E00-32C838372DFF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대각선 방향 모서리 36">
            <a:extLst>
              <a:ext uri="{FF2B5EF4-FFF2-40B4-BE49-F238E27FC236}">
                <a16:creationId xmlns:a16="http://schemas.microsoft.com/office/drawing/2014/main" id="{93B2BC20-DF10-40EF-BD57-E5D729E7C47F}"/>
              </a:ext>
            </a:extLst>
          </p:cNvPr>
          <p:cNvSpPr/>
          <p:nvPr/>
        </p:nvSpPr>
        <p:spPr>
          <a:xfrm flipH="1">
            <a:off x="-132160" y="3541487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F9EE414-A863-4607-BDEA-4885FBDFD8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44B851A5-9886-4769-8110-ADA5B12A5C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3" y="2924066"/>
            <a:ext cx="430323" cy="41351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29C76FA-274D-4930-B15E-3226692A08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481" y="3596292"/>
            <a:ext cx="402329" cy="402329"/>
          </a:xfrm>
          <a:prstGeom prst="rect">
            <a:avLst/>
          </a:prstGeom>
        </p:spPr>
      </p:pic>
      <p:sp>
        <p:nvSpPr>
          <p:cNvPr id="43" name="사각형: 둥근 대각선 방향 모서리 42">
            <a:extLst>
              <a:ext uri="{FF2B5EF4-FFF2-40B4-BE49-F238E27FC236}">
                <a16:creationId xmlns:a16="http://schemas.microsoft.com/office/drawing/2014/main" id="{54F3B00E-F452-4235-99A7-62EC7C4E9DC9}"/>
              </a:ext>
            </a:extLst>
          </p:cNvPr>
          <p:cNvSpPr/>
          <p:nvPr/>
        </p:nvSpPr>
        <p:spPr>
          <a:xfrm>
            <a:off x="586976" y="1522153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F63F389-A283-4399-87A7-8C71B8CF3F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971" y="1599055"/>
            <a:ext cx="416411" cy="41641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AABD92B-1BC7-4029-A755-FDC972EDE638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7B7A06-07BF-4B53-9FFF-44AD3899E8C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403674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11" name="사각형: 둥근 대각선 방향 모서리 10">
            <a:extLst>
              <a:ext uri="{FF2B5EF4-FFF2-40B4-BE49-F238E27FC236}">
                <a16:creationId xmlns:a16="http://schemas.microsoft.com/office/drawing/2014/main" id="{F7F5F4D2-EDE0-416F-A150-4635D8BBC696}"/>
              </a:ext>
            </a:extLst>
          </p:cNvPr>
          <p:cNvSpPr/>
          <p:nvPr/>
        </p:nvSpPr>
        <p:spPr>
          <a:xfrm>
            <a:off x="189220" y="2888399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대각선 방향 모서리 14">
            <a:extLst>
              <a:ext uri="{FF2B5EF4-FFF2-40B4-BE49-F238E27FC236}">
                <a16:creationId xmlns:a16="http://schemas.microsoft.com/office/drawing/2014/main" id="{C04EC139-B9A5-48E8-9A5F-48D8B8D1369D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대각선 방향 모서리 7">
            <a:extLst>
              <a:ext uri="{FF2B5EF4-FFF2-40B4-BE49-F238E27FC236}">
                <a16:creationId xmlns:a16="http://schemas.microsoft.com/office/drawing/2014/main" id="{2EF3E47F-442E-475F-B7CC-F3585BFC057D}"/>
              </a:ext>
            </a:extLst>
          </p:cNvPr>
          <p:cNvSpPr/>
          <p:nvPr/>
        </p:nvSpPr>
        <p:spPr>
          <a:xfrm>
            <a:off x="1086488" y="1473321"/>
            <a:ext cx="1872611" cy="135443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사각형: 둥근 대각선 방향 모서리 30">
            <a:extLst>
              <a:ext uri="{FF2B5EF4-FFF2-40B4-BE49-F238E27FC236}">
                <a16:creationId xmlns:a16="http://schemas.microsoft.com/office/drawing/2014/main" id="{1A6C6E69-C999-47CE-868C-A607824453FD}"/>
              </a:ext>
            </a:extLst>
          </p:cNvPr>
          <p:cNvSpPr/>
          <p:nvPr/>
        </p:nvSpPr>
        <p:spPr>
          <a:xfrm flipH="1">
            <a:off x="-132160" y="3541487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25455A6-E3A8-4ACB-9DE6-036C34A6E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576" y="1663306"/>
            <a:ext cx="1028739" cy="102873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47C166-E30E-45AB-B922-8043CBB6395F}"/>
              </a:ext>
            </a:extLst>
          </p:cNvPr>
          <p:cNvSpPr/>
          <p:nvPr/>
        </p:nvSpPr>
        <p:spPr>
          <a:xfrm>
            <a:off x="4595889" y="2194924"/>
            <a:ext cx="1874761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GITHUB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연동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5C403-394C-48D8-B9AD-AE49AA22EB6A}"/>
              </a:ext>
            </a:extLst>
          </p:cNvPr>
          <p:cNvSpPr txBox="1"/>
          <p:nvPr/>
        </p:nvSpPr>
        <p:spPr>
          <a:xfrm>
            <a:off x="3802418" y="2165340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나의 </a:t>
            </a:r>
            <a:r>
              <a:rPr lang="en-US" altLang="ko-KR" b="1" dirty="0">
                <a:solidFill>
                  <a:schemeClr val="bg1"/>
                </a:solidFill>
              </a:rPr>
              <a:t>Stars Repo</a:t>
            </a:r>
            <a:r>
              <a:rPr lang="ko-KR" altLang="en-US" dirty="0">
                <a:solidFill>
                  <a:schemeClr val="bg1"/>
                </a:solidFill>
              </a:rPr>
              <a:t>를 분석해서 스크랩을 추천합니다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2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4" name="사각형: 둥근 대각선 방향 모서리 23">
            <a:extLst>
              <a:ext uri="{FF2B5EF4-FFF2-40B4-BE49-F238E27FC236}">
                <a16:creationId xmlns:a16="http://schemas.microsoft.com/office/drawing/2014/main" id="{8AF284DB-005C-4C45-AA15-EEF2E9C8C34E}"/>
              </a:ext>
            </a:extLst>
          </p:cNvPr>
          <p:cNvSpPr/>
          <p:nvPr/>
        </p:nvSpPr>
        <p:spPr>
          <a:xfrm>
            <a:off x="557496" y="3642950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EAD4CFD-81EB-4C17-80E5-29EA5B2F8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469" y="3733041"/>
            <a:ext cx="397848" cy="39784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21AEB55-00EF-4B26-ADC3-37FA05B01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046454F-4FED-4636-9406-6959B5FA8E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34" y="3003832"/>
            <a:ext cx="430323" cy="41351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954C7A-A074-4584-8953-0EDB75FE52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481" y="3596292"/>
            <a:ext cx="402329" cy="4023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79EAD0-26FD-45F1-AE64-F38EE86D10D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075" r="2297" b="2283"/>
          <a:stretch/>
        </p:blipFill>
        <p:spPr>
          <a:xfrm>
            <a:off x="4815839" y="2813353"/>
            <a:ext cx="4947051" cy="2803676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2359FB2-8C33-4AF4-9070-B99033016AF8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49835E-9C50-4B22-8174-9126ACE1F9BC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326098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8" name="사각형: 둥근 대각선 방향 모서리 7">
            <a:extLst>
              <a:ext uri="{FF2B5EF4-FFF2-40B4-BE49-F238E27FC236}">
                <a16:creationId xmlns:a16="http://schemas.microsoft.com/office/drawing/2014/main" id="{2EF3E47F-442E-475F-B7CC-F3585BFC057D}"/>
              </a:ext>
            </a:extLst>
          </p:cNvPr>
          <p:cNvSpPr/>
          <p:nvPr/>
        </p:nvSpPr>
        <p:spPr>
          <a:xfrm>
            <a:off x="1086488" y="1473321"/>
            <a:ext cx="1872611" cy="135443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25455A6-E3A8-4ACB-9DE6-036C34A6E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576" y="1663306"/>
            <a:ext cx="1028739" cy="102873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47C166-E30E-45AB-B922-8043CBB6395F}"/>
              </a:ext>
            </a:extLst>
          </p:cNvPr>
          <p:cNvSpPr/>
          <p:nvPr/>
        </p:nvSpPr>
        <p:spPr>
          <a:xfrm>
            <a:off x="5361451" y="2194924"/>
            <a:ext cx="3668959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GITHUB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연동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5C403-394C-48D8-B9AD-AE49AA22EB6A}"/>
              </a:ext>
            </a:extLst>
          </p:cNvPr>
          <p:cNvSpPr txBox="1"/>
          <p:nvPr/>
        </p:nvSpPr>
        <p:spPr>
          <a:xfrm>
            <a:off x="3802418" y="2165340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생성된 </a:t>
            </a:r>
            <a:r>
              <a:rPr lang="en-US" altLang="ko-KR" dirty="0">
                <a:solidFill>
                  <a:schemeClr val="bg1"/>
                </a:solidFill>
              </a:rPr>
              <a:t>TIL</a:t>
            </a:r>
            <a:r>
              <a:rPr lang="ko-KR" altLang="en-US" dirty="0">
                <a:solidFill>
                  <a:schemeClr val="bg1"/>
                </a:solidFill>
              </a:rPr>
              <a:t>은 연결된 </a:t>
            </a:r>
            <a:r>
              <a:rPr lang="en-US" altLang="ko-KR" dirty="0">
                <a:solidFill>
                  <a:schemeClr val="bg1"/>
                </a:solidFill>
              </a:rPr>
              <a:t>GitHub Repository</a:t>
            </a:r>
            <a:r>
              <a:rPr lang="ko-KR" altLang="en-US" dirty="0">
                <a:solidFill>
                  <a:schemeClr val="bg1"/>
                </a:solidFill>
              </a:rPr>
              <a:t>에 </a:t>
            </a:r>
            <a:r>
              <a:rPr lang="ko-KR" altLang="en-US" b="1" dirty="0">
                <a:solidFill>
                  <a:schemeClr val="bg1"/>
                </a:solidFill>
              </a:rPr>
              <a:t>바로 커밋</a:t>
            </a:r>
            <a:r>
              <a:rPr lang="ko-KR" altLang="en-US" dirty="0">
                <a:solidFill>
                  <a:schemeClr val="bg1"/>
                </a:solidFill>
              </a:rPr>
              <a:t>할 수 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2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37" name="사각형: 둥근 대각선 방향 모서리 36">
            <a:extLst>
              <a:ext uri="{FF2B5EF4-FFF2-40B4-BE49-F238E27FC236}">
                <a16:creationId xmlns:a16="http://schemas.microsoft.com/office/drawing/2014/main" id="{E5B0B48D-B6D9-493C-A7FF-3A9FAEC8BD7D}"/>
              </a:ext>
            </a:extLst>
          </p:cNvPr>
          <p:cNvSpPr/>
          <p:nvPr/>
        </p:nvSpPr>
        <p:spPr>
          <a:xfrm>
            <a:off x="189220" y="2888399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대각선 방향 모서리 37">
            <a:extLst>
              <a:ext uri="{FF2B5EF4-FFF2-40B4-BE49-F238E27FC236}">
                <a16:creationId xmlns:a16="http://schemas.microsoft.com/office/drawing/2014/main" id="{4939C2D9-7002-4249-8947-E1B1FF3491BF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대각선 방향 모서리 38">
            <a:extLst>
              <a:ext uri="{FF2B5EF4-FFF2-40B4-BE49-F238E27FC236}">
                <a16:creationId xmlns:a16="http://schemas.microsoft.com/office/drawing/2014/main" id="{A2C77C9D-C3F5-4A44-B42A-992667B35109}"/>
              </a:ext>
            </a:extLst>
          </p:cNvPr>
          <p:cNvSpPr/>
          <p:nvPr/>
        </p:nvSpPr>
        <p:spPr>
          <a:xfrm flipH="1">
            <a:off x="-132160" y="3541487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대각선 방향 모서리 39">
            <a:extLst>
              <a:ext uri="{FF2B5EF4-FFF2-40B4-BE49-F238E27FC236}">
                <a16:creationId xmlns:a16="http://schemas.microsoft.com/office/drawing/2014/main" id="{977233D3-607F-4A8F-98A1-8BCCF230C917}"/>
              </a:ext>
            </a:extLst>
          </p:cNvPr>
          <p:cNvSpPr/>
          <p:nvPr/>
        </p:nvSpPr>
        <p:spPr>
          <a:xfrm>
            <a:off x="557496" y="3642950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1CDCEAF7-545A-453D-B4E2-D9201C0455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469" y="3733041"/>
            <a:ext cx="397848" cy="39784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1FECB4DC-C393-4D19-BC24-12264C2CD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CC1B11F-8E58-48DA-AD97-D13AB5EE0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34" y="3003832"/>
            <a:ext cx="430323" cy="413513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0FD3AC9A-B34B-4C60-A038-3E92EDBFF5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481" y="3596292"/>
            <a:ext cx="402329" cy="402329"/>
          </a:xfrm>
          <a:prstGeom prst="rect">
            <a:avLst/>
          </a:prstGeom>
        </p:spPr>
      </p:pic>
      <p:sp>
        <p:nvSpPr>
          <p:cNvPr id="6" name="AutoShape 2" descr="preview url image">
            <a:extLst>
              <a:ext uri="{FF2B5EF4-FFF2-40B4-BE49-F238E27FC236}">
                <a16:creationId xmlns:a16="http://schemas.microsoft.com/office/drawing/2014/main" id="{8857EB0A-FB3E-44C4-8677-38E9E81C6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A4E23B-3C9F-4B37-8848-4C5878C355F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176" t="13528" r="39717" b="28982"/>
          <a:stretch/>
        </p:blipFill>
        <p:spPr>
          <a:xfrm>
            <a:off x="5041027" y="2827754"/>
            <a:ext cx="4522074" cy="3146378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BDCA892-DA93-4995-BF79-8FEDB1411918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193E0E-98CF-4C09-9CD2-280A692D5A4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BB0A46-311F-4455-AAAC-8C88F48CA363}"/>
              </a:ext>
            </a:extLst>
          </p:cNvPr>
          <p:cNvSpPr/>
          <p:nvPr/>
        </p:nvSpPr>
        <p:spPr>
          <a:xfrm>
            <a:off x="6929438" y="3432206"/>
            <a:ext cx="1143000" cy="502193"/>
          </a:xfrm>
          <a:prstGeom prst="rect">
            <a:avLst/>
          </a:prstGeom>
          <a:solidFill>
            <a:schemeClr val="accent2">
              <a:alpha val="12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64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3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D4FD041-4BE6-4191-A08C-3B54E4DA5A41}"/>
              </a:ext>
            </a:extLst>
          </p:cNvPr>
          <p:cNvSpPr/>
          <p:nvPr/>
        </p:nvSpPr>
        <p:spPr>
          <a:xfrm>
            <a:off x="6489567" y="2224262"/>
            <a:ext cx="2913585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0AE82C-F1BE-4F5C-986F-6CD102D4AB7E}"/>
              </a:ext>
            </a:extLst>
          </p:cNvPr>
          <p:cNvSpPr txBox="1"/>
          <p:nvPr/>
        </p:nvSpPr>
        <p:spPr>
          <a:xfrm>
            <a:off x="3802418" y="2194678"/>
            <a:ext cx="738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스크랩한 원문을 분석하여 지식카드의 </a:t>
            </a:r>
            <a:r>
              <a:rPr lang="ko-KR" altLang="en-US" b="1" dirty="0">
                <a:solidFill>
                  <a:schemeClr val="bg1"/>
                </a:solidFill>
              </a:rPr>
              <a:t>제목</a:t>
            </a:r>
            <a:r>
              <a:rPr lang="en-US" altLang="ko-KR" b="1" dirty="0">
                <a:solidFill>
                  <a:schemeClr val="bg1"/>
                </a:solidFill>
              </a:rPr>
              <a:t>, 3</a:t>
            </a:r>
            <a:r>
              <a:rPr lang="ko-KR" altLang="en-US" b="1" dirty="0">
                <a:solidFill>
                  <a:schemeClr val="bg1"/>
                </a:solidFill>
              </a:rPr>
              <a:t>줄 요약</a:t>
            </a:r>
            <a:r>
              <a:rPr lang="en-US" altLang="ko-KR" b="1" dirty="0">
                <a:solidFill>
                  <a:schemeClr val="bg1"/>
                </a:solidFill>
              </a:rPr>
              <a:t>, </a:t>
            </a:r>
            <a:r>
              <a:rPr lang="ko-KR" altLang="en-US" b="1" dirty="0">
                <a:solidFill>
                  <a:schemeClr val="bg1"/>
                </a:solidFill>
              </a:rPr>
              <a:t>태그</a:t>
            </a:r>
            <a:r>
              <a:rPr lang="ko-KR" altLang="en-US" dirty="0">
                <a:solidFill>
                  <a:schemeClr val="bg1"/>
                </a:solidFill>
              </a:rPr>
              <a:t>를 생성합니다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4" name="사각형: 둥근 대각선 방향 모서리 43">
            <a:extLst>
              <a:ext uri="{FF2B5EF4-FFF2-40B4-BE49-F238E27FC236}">
                <a16:creationId xmlns:a16="http://schemas.microsoft.com/office/drawing/2014/main" id="{43FBAB30-4AF8-409C-AFD5-C50DA1C105A3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097FB7D-B4E2-4149-9CCB-270675E7F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49" name="사각형: 둥근 대각선 방향 모서리 48">
            <a:extLst>
              <a:ext uri="{FF2B5EF4-FFF2-40B4-BE49-F238E27FC236}">
                <a16:creationId xmlns:a16="http://schemas.microsoft.com/office/drawing/2014/main" id="{9A6EE4E9-29A3-4812-80C7-8B192B69B9D3}"/>
              </a:ext>
            </a:extLst>
          </p:cNvPr>
          <p:cNvSpPr/>
          <p:nvPr/>
        </p:nvSpPr>
        <p:spPr>
          <a:xfrm>
            <a:off x="507863" y="1481607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A2BDBF3-4C53-48B3-8605-31E0CCF18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58" y="1558509"/>
            <a:ext cx="416411" cy="416411"/>
          </a:xfrm>
          <a:prstGeom prst="rect">
            <a:avLst/>
          </a:prstGeom>
        </p:spPr>
      </p:pic>
      <p:sp>
        <p:nvSpPr>
          <p:cNvPr id="51" name="사각형: 둥근 대각선 방향 모서리 50">
            <a:extLst>
              <a:ext uri="{FF2B5EF4-FFF2-40B4-BE49-F238E27FC236}">
                <a16:creationId xmlns:a16="http://schemas.microsoft.com/office/drawing/2014/main" id="{1C76ACC8-E9A8-4E21-A48B-75A64136C0E6}"/>
              </a:ext>
            </a:extLst>
          </p:cNvPr>
          <p:cNvSpPr/>
          <p:nvPr/>
        </p:nvSpPr>
        <p:spPr>
          <a:xfrm>
            <a:off x="-77151" y="2808633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대각선 방향 모서리 51">
            <a:extLst>
              <a:ext uri="{FF2B5EF4-FFF2-40B4-BE49-F238E27FC236}">
                <a16:creationId xmlns:a16="http://schemas.microsoft.com/office/drawing/2014/main" id="{89E88707-1DB1-4D26-8FCE-7EC4F0006A09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9B8AD382-7331-48A0-85CD-FEF2CBFD6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ECF2FC42-5850-4A5D-B0F2-B16947F516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3" y="2924066"/>
            <a:ext cx="430323" cy="413513"/>
          </a:xfrm>
          <a:prstGeom prst="rect">
            <a:avLst/>
          </a:prstGeom>
        </p:spPr>
      </p:pic>
      <p:sp>
        <p:nvSpPr>
          <p:cNvPr id="57" name="사각형: 둥근 대각선 방향 모서리 56">
            <a:extLst>
              <a:ext uri="{FF2B5EF4-FFF2-40B4-BE49-F238E27FC236}">
                <a16:creationId xmlns:a16="http://schemas.microsoft.com/office/drawing/2014/main" id="{1003B6F2-F459-40CE-9E44-35B59F231EA5}"/>
              </a:ext>
            </a:extLst>
          </p:cNvPr>
          <p:cNvSpPr/>
          <p:nvPr/>
        </p:nvSpPr>
        <p:spPr>
          <a:xfrm flipH="1">
            <a:off x="931507" y="2136093"/>
            <a:ext cx="2142800" cy="1682579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60B3BF8-E722-42BC-9180-F403682220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1267" y="2332784"/>
            <a:ext cx="1182564" cy="11825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A99CC86-4D05-4D34-957C-7BCC5C79D21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74557" t="26137" r="827" b="51660"/>
          <a:stretch/>
        </p:blipFill>
        <p:spPr>
          <a:xfrm>
            <a:off x="3462180" y="3094115"/>
            <a:ext cx="2984723" cy="1682579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729F508-2D23-4B74-8A9B-5D973D3DE2C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74802" t="54835" r="1058" b="30635"/>
          <a:stretch/>
        </p:blipFill>
        <p:spPr>
          <a:xfrm>
            <a:off x="6976591" y="3087643"/>
            <a:ext cx="4507150" cy="1695522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E01CB21-76D1-46CB-81B7-E47C47DFEB93}"/>
              </a:ext>
            </a:extLst>
          </p:cNvPr>
          <p:cNvGrpSpPr/>
          <p:nvPr/>
        </p:nvGrpSpPr>
        <p:grpSpPr>
          <a:xfrm>
            <a:off x="6537893" y="3708413"/>
            <a:ext cx="391796" cy="453982"/>
            <a:chOff x="6552960" y="3708412"/>
            <a:chExt cx="391796" cy="453982"/>
          </a:xfrm>
        </p:grpSpPr>
        <p:sp>
          <p:nvSpPr>
            <p:cNvPr id="16" name="화살표: 갈매기형 수장 15">
              <a:extLst>
                <a:ext uri="{FF2B5EF4-FFF2-40B4-BE49-F238E27FC236}">
                  <a16:creationId xmlns:a16="http://schemas.microsoft.com/office/drawing/2014/main" id="{AAB06CF4-87EC-428E-9E36-A2570B2F4A6A}"/>
                </a:ext>
              </a:extLst>
            </p:cNvPr>
            <p:cNvSpPr/>
            <p:nvPr/>
          </p:nvSpPr>
          <p:spPr>
            <a:xfrm>
              <a:off x="6694170" y="3708413"/>
              <a:ext cx="250586" cy="453981"/>
            </a:xfrm>
            <a:prstGeom prst="chevron">
              <a:avLst>
                <a:gd name="adj" fmla="val 59749"/>
              </a:avLst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화살표: 갈매기형 수장 57">
              <a:extLst>
                <a:ext uri="{FF2B5EF4-FFF2-40B4-BE49-F238E27FC236}">
                  <a16:creationId xmlns:a16="http://schemas.microsoft.com/office/drawing/2014/main" id="{4F693187-5B24-4F7F-ADDA-11E408EF36BD}"/>
                </a:ext>
              </a:extLst>
            </p:cNvPr>
            <p:cNvSpPr/>
            <p:nvPr/>
          </p:nvSpPr>
          <p:spPr>
            <a:xfrm>
              <a:off x="6552960" y="3708412"/>
              <a:ext cx="250586" cy="453981"/>
            </a:xfrm>
            <a:prstGeom prst="chevron">
              <a:avLst>
                <a:gd name="adj" fmla="val 59749"/>
              </a:avLst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D29A20B-59C7-4C0E-BE78-A9DAAA90404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15F449-123F-45E1-9C8B-8EDC8B90C8E9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173875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3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3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EA2C3D-F4F1-4A19-BD23-8C90E6A0BA7F}"/>
              </a:ext>
            </a:extLst>
          </p:cNvPr>
          <p:cNvSpPr/>
          <p:nvPr/>
        </p:nvSpPr>
        <p:spPr>
          <a:xfrm>
            <a:off x="6749848" y="2224262"/>
            <a:ext cx="3166564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A1CE33-EE09-4587-9236-2485F38014CA}"/>
              </a:ext>
            </a:extLst>
          </p:cNvPr>
          <p:cNvSpPr txBox="1"/>
          <p:nvPr/>
        </p:nvSpPr>
        <p:spPr>
          <a:xfrm>
            <a:off x="3802418" y="2194678"/>
            <a:ext cx="738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당일 수집한 내용을 요약해서 </a:t>
            </a:r>
            <a:r>
              <a:rPr lang="en-US" altLang="ko-KR" b="1" dirty="0">
                <a:solidFill>
                  <a:schemeClr val="bg1"/>
                </a:solidFill>
              </a:rPr>
              <a:t>TIL </a:t>
            </a:r>
            <a:r>
              <a:rPr lang="ko-KR" altLang="en-US" b="1" dirty="0">
                <a:solidFill>
                  <a:schemeClr val="bg1"/>
                </a:solidFill>
              </a:rPr>
              <a:t>문서와 </a:t>
            </a:r>
            <a:r>
              <a:rPr lang="en-US" altLang="ko-KR" b="1" dirty="0">
                <a:solidFill>
                  <a:schemeClr val="bg1"/>
                </a:solidFill>
              </a:rPr>
              <a:t>OX/</a:t>
            </a:r>
            <a:r>
              <a:rPr lang="ko-KR" altLang="en-US" b="1" dirty="0">
                <a:solidFill>
                  <a:schemeClr val="bg1"/>
                </a:solidFill>
              </a:rPr>
              <a:t>단답식 퀴즈</a:t>
            </a:r>
            <a:r>
              <a:rPr lang="ko-KR" altLang="en-US" dirty="0">
                <a:solidFill>
                  <a:schemeClr val="bg1"/>
                </a:solidFill>
              </a:rPr>
              <a:t>를 생성합니다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8" name="사각형: 둥근 대각선 방향 모서리 27">
            <a:extLst>
              <a:ext uri="{FF2B5EF4-FFF2-40B4-BE49-F238E27FC236}">
                <a16:creationId xmlns:a16="http://schemas.microsoft.com/office/drawing/2014/main" id="{2F1C3D5B-2D01-4A80-AE3E-5DB3355B17AE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4F2424E-8097-4C65-9DA3-0E5349D96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33" name="사각형: 둥근 대각선 방향 모서리 32">
            <a:extLst>
              <a:ext uri="{FF2B5EF4-FFF2-40B4-BE49-F238E27FC236}">
                <a16:creationId xmlns:a16="http://schemas.microsoft.com/office/drawing/2014/main" id="{BD55B294-C040-49A3-8F5A-9EFBCC7C2A92}"/>
              </a:ext>
            </a:extLst>
          </p:cNvPr>
          <p:cNvSpPr/>
          <p:nvPr/>
        </p:nvSpPr>
        <p:spPr>
          <a:xfrm>
            <a:off x="507863" y="1481607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1E625702-685C-4A7D-A391-56C8AD848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58" y="1558509"/>
            <a:ext cx="416411" cy="416411"/>
          </a:xfrm>
          <a:prstGeom prst="rect">
            <a:avLst/>
          </a:prstGeom>
        </p:spPr>
      </p:pic>
      <p:sp>
        <p:nvSpPr>
          <p:cNvPr id="36" name="사각형: 둥근 대각선 방향 모서리 35">
            <a:extLst>
              <a:ext uri="{FF2B5EF4-FFF2-40B4-BE49-F238E27FC236}">
                <a16:creationId xmlns:a16="http://schemas.microsoft.com/office/drawing/2014/main" id="{ACD0F8C3-2ED4-4E6F-9F8A-6A9D9F004F90}"/>
              </a:ext>
            </a:extLst>
          </p:cNvPr>
          <p:cNvSpPr/>
          <p:nvPr/>
        </p:nvSpPr>
        <p:spPr>
          <a:xfrm>
            <a:off x="-77151" y="2808633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대각선 방향 모서리 36">
            <a:extLst>
              <a:ext uri="{FF2B5EF4-FFF2-40B4-BE49-F238E27FC236}">
                <a16:creationId xmlns:a16="http://schemas.microsoft.com/office/drawing/2014/main" id="{68E6880F-CEC0-4FC0-874F-45EF13A74326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F509C7B-BE9D-4C6D-88E8-BBD7A4D10C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EEDAF8E-9B9C-4C9C-A8F8-27016CBA4A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3" y="2924066"/>
            <a:ext cx="430323" cy="413513"/>
          </a:xfrm>
          <a:prstGeom prst="rect">
            <a:avLst/>
          </a:prstGeom>
        </p:spPr>
      </p:pic>
      <p:sp>
        <p:nvSpPr>
          <p:cNvPr id="40" name="사각형: 둥근 대각선 방향 모서리 39">
            <a:extLst>
              <a:ext uri="{FF2B5EF4-FFF2-40B4-BE49-F238E27FC236}">
                <a16:creationId xmlns:a16="http://schemas.microsoft.com/office/drawing/2014/main" id="{9ACEDEC5-DA4A-4C68-B3F7-43B81430C038}"/>
              </a:ext>
            </a:extLst>
          </p:cNvPr>
          <p:cNvSpPr/>
          <p:nvPr/>
        </p:nvSpPr>
        <p:spPr>
          <a:xfrm flipH="1">
            <a:off x="931507" y="2136093"/>
            <a:ext cx="2142800" cy="1682579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867C98C-B44D-490E-BE77-48E1A8E8AB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1267" y="2332784"/>
            <a:ext cx="1182564" cy="11825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18020BE-2485-4E79-9DCA-63DB5CED07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8901" y="2832462"/>
            <a:ext cx="4804792" cy="3002995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C7083FF-BD8C-4233-BCF3-38290FDBC777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DA02EB-3F11-4065-A143-E5A990C077FA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3829783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빠른 스크랩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4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FC3AD2-402E-4091-B96B-1766BE23840E}"/>
              </a:ext>
            </a:extLst>
          </p:cNvPr>
          <p:cNvSpPr/>
          <p:nvPr/>
        </p:nvSpPr>
        <p:spPr>
          <a:xfrm>
            <a:off x="6269971" y="2224262"/>
            <a:ext cx="1589539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F102B6-A4CE-48D9-8CDB-ED0967E5569E}"/>
              </a:ext>
            </a:extLst>
          </p:cNvPr>
          <p:cNvSpPr txBox="1"/>
          <p:nvPr/>
        </p:nvSpPr>
        <p:spPr>
          <a:xfrm>
            <a:off x="3802418" y="2194678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페이지 링크와 텍스트를 </a:t>
            </a:r>
            <a:r>
              <a:rPr lang="en-US" altLang="ko-KR" b="1" dirty="0">
                <a:solidFill>
                  <a:schemeClr val="bg1"/>
                </a:solidFill>
              </a:rPr>
              <a:t>DRAG &amp; DROP</a:t>
            </a:r>
            <a:r>
              <a:rPr lang="ko-KR" altLang="en-US" dirty="0">
                <a:solidFill>
                  <a:schemeClr val="bg1"/>
                </a:solidFill>
              </a:rPr>
              <a:t>하면 즉시 저장됩니다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8" name="사각형: 둥근 대각선 방향 모서리 47">
            <a:extLst>
              <a:ext uri="{FF2B5EF4-FFF2-40B4-BE49-F238E27FC236}">
                <a16:creationId xmlns:a16="http://schemas.microsoft.com/office/drawing/2014/main" id="{4F600AF0-D7B7-4E75-912E-A1131E1611F1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F9DC34B6-18A7-411E-82FF-D555F20A2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50" name="사각형: 둥근 대각선 방향 모서리 49">
            <a:extLst>
              <a:ext uri="{FF2B5EF4-FFF2-40B4-BE49-F238E27FC236}">
                <a16:creationId xmlns:a16="http://schemas.microsoft.com/office/drawing/2014/main" id="{264E8AA3-106D-4E11-B58B-63BD1B823AC2}"/>
              </a:ext>
            </a:extLst>
          </p:cNvPr>
          <p:cNvSpPr/>
          <p:nvPr/>
        </p:nvSpPr>
        <p:spPr>
          <a:xfrm>
            <a:off x="315975" y="1466899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E1515AA6-26EB-476E-B7C3-3D6A67A37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70" y="1543801"/>
            <a:ext cx="416411" cy="416411"/>
          </a:xfrm>
          <a:prstGeom prst="rect">
            <a:avLst/>
          </a:prstGeom>
        </p:spPr>
      </p:pic>
      <p:sp>
        <p:nvSpPr>
          <p:cNvPr id="52" name="사각형: 둥근 대각선 방향 모서리 51">
            <a:extLst>
              <a:ext uri="{FF2B5EF4-FFF2-40B4-BE49-F238E27FC236}">
                <a16:creationId xmlns:a16="http://schemas.microsoft.com/office/drawing/2014/main" id="{70E631D1-5C96-42CD-8F9A-88D8ED16557A}"/>
              </a:ext>
            </a:extLst>
          </p:cNvPr>
          <p:cNvSpPr/>
          <p:nvPr/>
        </p:nvSpPr>
        <p:spPr>
          <a:xfrm>
            <a:off x="929230" y="1652271"/>
            <a:ext cx="2144610" cy="1652068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대각선 방향 모서리 52">
            <a:extLst>
              <a:ext uri="{FF2B5EF4-FFF2-40B4-BE49-F238E27FC236}">
                <a16:creationId xmlns:a16="http://schemas.microsoft.com/office/drawing/2014/main" id="{748C1360-B64E-4379-84C1-05FDA8156B09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A6465DF1-ABFE-4467-87ED-4731B276A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266BFE3-0A48-4BF8-AC70-91C96DA70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5687" y="1871474"/>
            <a:ext cx="1270760" cy="1221119"/>
          </a:xfrm>
          <a:prstGeom prst="rect">
            <a:avLst/>
          </a:prstGeom>
        </p:spPr>
      </p:pic>
      <p:sp>
        <p:nvSpPr>
          <p:cNvPr id="56" name="사각형: 둥근 대각선 방향 모서리 55">
            <a:extLst>
              <a:ext uri="{FF2B5EF4-FFF2-40B4-BE49-F238E27FC236}">
                <a16:creationId xmlns:a16="http://schemas.microsoft.com/office/drawing/2014/main" id="{19D779B0-52B1-43C1-8284-97F6DBA25288}"/>
              </a:ext>
            </a:extLst>
          </p:cNvPr>
          <p:cNvSpPr/>
          <p:nvPr/>
        </p:nvSpPr>
        <p:spPr>
          <a:xfrm flipH="1">
            <a:off x="114962" y="3044509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4F6432C2-9186-4D9E-9CAE-1512DD712E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641" y="3099314"/>
            <a:ext cx="402329" cy="4023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ACF4AD4-4F5E-4573-9F81-4D04EE09CF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051" y="2797587"/>
            <a:ext cx="4788492" cy="2992808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45262B6-F49E-47F6-8536-9B9E648CABC9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827B70-1F0E-4A56-9737-66282C431DB9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611535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빠른 스크랩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4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078349-5942-47F5-85D8-485679DDB9E8}"/>
              </a:ext>
            </a:extLst>
          </p:cNvPr>
          <p:cNvSpPr/>
          <p:nvPr/>
        </p:nvSpPr>
        <p:spPr>
          <a:xfrm>
            <a:off x="4121857" y="2224262"/>
            <a:ext cx="2432290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AFAD00-8534-4197-BFDF-C3D66E7BA953}"/>
              </a:ext>
            </a:extLst>
          </p:cNvPr>
          <p:cNvSpPr txBox="1"/>
          <p:nvPr/>
        </p:nvSpPr>
        <p:spPr>
          <a:xfrm>
            <a:off x="3802418" y="2194678"/>
            <a:ext cx="67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커스텀 단축키</a:t>
            </a:r>
            <a:r>
              <a:rPr lang="ko-KR" altLang="en-US" dirty="0">
                <a:solidFill>
                  <a:schemeClr val="bg1"/>
                </a:solidFill>
              </a:rPr>
              <a:t>로 화면 캡처와 저장까지 한 번에 가능합니다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5FC5D954-D1C5-40CB-9367-8E8D32992F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30" t="5282" r="3558" b="39206"/>
          <a:stretch/>
        </p:blipFill>
        <p:spPr>
          <a:xfrm>
            <a:off x="5048915" y="2965246"/>
            <a:ext cx="4720878" cy="2502547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51" name="사각형: 둥근 대각선 방향 모서리 50">
            <a:extLst>
              <a:ext uri="{FF2B5EF4-FFF2-40B4-BE49-F238E27FC236}">
                <a16:creationId xmlns:a16="http://schemas.microsoft.com/office/drawing/2014/main" id="{F10F283D-8CEC-404B-A54E-564328152B40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7356B9F-548F-4636-9BF9-ED1FC175B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53" name="사각형: 둥근 대각선 방향 모서리 52">
            <a:extLst>
              <a:ext uri="{FF2B5EF4-FFF2-40B4-BE49-F238E27FC236}">
                <a16:creationId xmlns:a16="http://schemas.microsoft.com/office/drawing/2014/main" id="{43BBBA96-3DFF-47E0-9E43-DD6A3BAA1334}"/>
              </a:ext>
            </a:extLst>
          </p:cNvPr>
          <p:cNvSpPr/>
          <p:nvPr/>
        </p:nvSpPr>
        <p:spPr>
          <a:xfrm>
            <a:off x="315975" y="1466899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BF94EF6-5F11-492B-9551-FA69E92EA3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70" y="1543801"/>
            <a:ext cx="416411" cy="416411"/>
          </a:xfrm>
          <a:prstGeom prst="rect">
            <a:avLst/>
          </a:prstGeom>
        </p:spPr>
      </p:pic>
      <p:sp>
        <p:nvSpPr>
          <p:cNvPr id="55" name="사각형: 둥근 대각선 방향 모서리 54">
            <a:extLst>
              <a:ext uri="{FF2B5EF4-FFF2-40B4-BE49-F238E27FC236}">
                <a16:creationId xmlns:a16="http://schemas.microsoft.com/office/drawing/2014/main" id="{885C46D5-943C-4E06-AB81-B56AFED5FEB7}"/>
              </a:ext>
            </a:extLst>
          </p:cNvPr>
          <p:cNvSpPr/>
          <p:nvPr/>
        </p:nvSpPr>
        <p:spPr>
          <a:xfrm>
            <a:off x="929230" y="1652271"/>
            <a:ext cx="2144610" cy="1652068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대각선 방향 모서리 55">
            <a:extLst>
              <a:ext uri="{FF2B5EF4-FFF2-40B4-BE49-F238E27FC236}">
                <a16:creationId xmlns:a16="http://schemas.microsoft.com/office/drawing/2014/main" id="{9CFF06E6-A528-4744-896C-3080E15D34DE}"/>
              </a:ext>
            </a:extLst>
          </p:cNvPr>
          <p:cNvSpPr/>
          <p:nvPr/>
        </p:nvSpPr>
        <p:spPr>
          <a:xfrm>
            <a:off x="-84133" y="2165340"/>
            <a:ext cx="757991" cy="55241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85A03E92-B0D2-4979-83CB-5ADF604EA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70" y="2194924"/>
            <a:ext cx="483293" cy="4832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70086B6-C081-4DE8-9124-BEF9F5BA80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5687" y="1871474"/>
            <a:ext cx="1270760" cy="1221119"/>
          </a:xfrm>
          <a:prstGeom prst="rect">
            <a:avLst/>
          </a:prstGeom>
        </p:spPr>
      </p:pic>
      <p:sp>
        <p:nvSpPr>
          <p:cNvPr id="59" name="사각형: 둥근 대각선 방향 모서리 58">
            <a:extLst>
              <a:ext uri="{FF2B5EF4-FFF2-40B4-BE49-F238E27FC236}">
                <a16:creationId xmlns:a16="http://schemas.microsoft.com/office/drawing/2014/main" id="{5419AD9B-E95F-4025-8BF9-67ADC48A6E7A}"/>
              </a:ext>
            </a:extLst>
          </p:cNvPr>
          <p:cNvSpPr/>
          <p:nvPr/>
        </p:nvSpPr>
        <p:spPr>
          <a:xfrm flipH="1">
            <a:off x="114962" y="3044509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E15D8195-8CF9-4100-A7D9-7A76895A6D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641" y="3099314"/>
            <a:ext cx="402329" cy="40232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B4CF245-8F61-4678-8AA2-71EDB14EC66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800C7B-FA57-40E9-B835-D55B579B4D32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2296760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C08FA4-3508-41C0-8707-8F4D6DA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 </a:t>
            </a:r>
            <a:r>
              <a:rPr lang="ko-KR" altLang="en-US" dirty="0"/>
              <a:t>핵심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7AEFC-F051-4636-B1CC-CAE323E0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430" y="2260620"/>
            <a:ext cx="3702050" cy="40032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08CAB8-2583-44F2-A244-40BB296A4B13}"/>
              </a:ext>
            </a:extLst>
          </p:cNvPr>
          <p:cNvSpPr txBox="1"/>
          <p:nvPr/>
        </p:nvSpPr>
        <p:spPr>
          <a:xfrm>
            <a:off x="4042398" y="1513255"/>
            <a:ext cx="223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accent3"/>
                </a:solidFill>
                <a:latin typeface="+mj-ea"/>
                <a:ea typeface="+mj-ea"/>
              </a:rPr>
              <a:t>시각화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F7BD9F-2310-4382-BCFA-BA5F4D9DD3EF}"/>
              </a:ext>
            </a:extLst>
          </p:cNvPr>
          <p:cNvSpPr/>
          <p:nvPr/>
        </p:nvSpPr>
        <p:spPr>
          <a:xfrm>
            <a:off x="3630410" y="1522153"/>
            <a:ext cx="404073" cy="4040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+mj-ea"/>
                <a:ea typeface="+mj-ea"/>
              </a:rPr>
              <a:t>5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078349-5942-47F5-85D8-485679DDB9E8}"/>
              </a:ext>
            </a:extLst>
          </p:cNvPr>
          <p:cNvSpPr/>
          <p:nvPr/>
        </p:nvSpPr>
        <p:spPr>
          <a:xfrm>
            <a:off x="5907113" y="2504235"/>
            <a:ext cx="3060821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AFAD00-8534-4197-BFDF-C3D66E7BA953}"/>
              </a:ext>
            </a:extLst>
          </p:cNvPr>
          <p:cNvSpPr txBox="1"/>
          <p:nvPr/>
        </p:nvSpPr>
        <p:spPr>
          <a:xfrm>
            <a:off x="3802418" y="2194678"/>
            <a:ext cx="678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bg1"/>
                </a:solidFill>
              </a:rPr>
              <a:t>카테고리</a:t>
            </a:r>
            <a:r>
              <a:rPr lang="ko-KR" altLang="en-US" dirty="0">
                <a:solidFill>
                  <a:schemeClr val="bg1"/>
                </a:solidFill>
              </a:rPr>
              <a:t>를 기준으로 지식카드를 </a:t>
            </a:r>
            <a:r>
              <a:rPr lang="ko-KR" altLang="en-US" dirty="0" err="1">
                <a:solidFill>
                  <a:schemeClr val="bg1"/>
                </a:solidFill>
              </a:rPr>
              <a:t>시각화합니다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선택한 지식 카드와 </a:t>
            </a:r>
            <a:r>
              <a:rPr lang="ko-KR" altLang="en-US" b="1" dirty="0">
                <a:solidFill>
                  <a:schemeClr val="bg1"/>
                </a:solidFill>
              </a:rPr>
              <a:t>연관도가 높은</a:t>
            </a:r>
            <a:r>
              <a:rPr lang="ko-KR" altLang="en-US" dirty="0">
                <a:solidFill>
                  <a:schemeClr val="bg1"/>
                </a:solidFill>
              </a:rPr>
              <a:t> 카드를 보여줍니다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1" name="사각형: 둥근 대각선 방향 모서리 50">
            <a:extLst>
              <a:ext uri="{FF2B5EF4-FFF2-40B4-BE49-F238E27FC236}">
                <a16:creationId xmlns:a16="http://schemas.microsoft.com/office/drawing/2014/main" id="{F10F283D-8CEC-404B-A54E-564328152B40}"/>
              </a:ext>
            </a:extLst>
          </p:cNvPr>
          <p:cNvSpPr/>
          <p:nvPr/>
        </p:nvSpPr>
        <p:spPr>
          <a:xfrm>
            <a:off x="221079" y="3728581"/>
            <a:ext cx="746469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5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7356B9F-548F-4636-9BF9-ED1FC175B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2" y="3818672"/>
            <a:ext cx="397848" cy="397848"/>
          </a:xfrm>
          <a:prstGeom prst="rect">
            <a:avLst/>
          </a:prstGeom>
        </p:spPr>
      </p:pic>
      <p:sp>
        <p:nvSpPr>
          <p:cNvPr id="53" name="사각형: 둥근 대각선 방향 모서리 52">
            <a:extLst>
              <a:ext uri="{FF2B5EF4-FFF2-40B4-BE49-F238E27FC236}">
                <a16:creationId xmlns:a16="http://schemas.microsoft.com/office/drawing/2014/main" id="{43BBBA96-3DFF-47E0-9E43-DD6A3BAA1334}"/>
              </a:ext>
            </a:extLst>
          </p:cNvPr>
          <p:cNvSpPr/>
          <p:nvPr/>
        </p:nvSpPr>
        <p:spPr>
          <a:xfrm>
            <a:off x="-210712" y="2183718"/>
            <a:ext cx="757992" cy="54824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BF94EF6-5F11-492B-9551-FA69E92EA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4717" y="2260620"/>
            <a:ext cx="416411" cy="416411"/>
          </a:xfrm>
          <a:prstGeom prst="rect">
            <a:avLst/>
          </a:prstGeom>
        </p:spPr>
      </p:pic>
      <p:sp>
        <p:nvSpPr>
          <p:cNvPr id="56" name="사각형: 둥근 대각선 방향 모서리 55">
            <a:extLst>
              <a:ext uri="{FF2B5EF4-FFF2-40B4-BE49-F238E27FC236}">
                <a16:creationId xmlns:a16="http://schemas.microsoft.com/office/drawing/2014/main" id="{9CFF06E6-A528-4744-896C-3080E15D34DE}"/>
              </a:ext>
            </a:extLst>
          </p:cNvPr>
          <p:cNvSpPr/>
          <p:nvPr/>
        </p:nvSpPr>
        <p:spPr>
          <a:xfrm>
            <a:off x="785900" y="1112440"/>
            <a:ext cx="2202680" cy="160528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tx2">
              <a:lumMod val="2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85A03E92-B0D2-4979-83CB-5ADF604EA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131" y="1189229"/>
            <a:ext cx="1404423" cy="1404423"/>
          </a:xfrm>
          <a:prstGeom prst="rect">
            <a:avLst/>
          </a:prstGeom>
        </p:spPr>
      </p:pic>
      <p:sp>
        <p:nvSpPr>
          <p:cNvPr id="59" name="사각형: 둥근 대각선 방향 모서리 58">
            <a:extLst>
              <a:ext uri="{FF2B5EF4-FFF2-40B4-BE49-F238E27FC236}">
                <a16:creationId xmlns:a16="http://schemas.microsoft.com/office/drawing/2014/main" id="{5419AD9B-E95F-4025-8BF9-67ADC48A6E7A}"/>
              </a:ext>
            </a:extLst>
          </p:cNvPr>
          <p:cNvSpPr/>
          <p:nvPr/>
        </p:nvSpPr>
        <p:spPr>
          <a:xfrm flipH="1">
            <a:off x="114962" y="3044509"/>
            <a:ext cx="625625" cy="517403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E15D8195-8CF9-4100-A7D9-7A76895A6D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641" y="3099314"/>
            <a:ext cx="402329" cy="402329"/>
          </a:xfrm>
          <a:prstGeom prst="rect">
            <a:avLst/>
          </a:prstGeom>
        </p:spPr>
      </p:pic>
      <p:sp>
        <p:nvSpPr>
          <p:cNvPr id="19" name="사각형: 둥근 대각선 방향 모서리 18">
            <a:extLst>
              <a:ext uri="{FF2B5EF4-FFF2-40B4-BE49-F238E27FC236}">
                <a16:creationId xmlns:a16="http://schemas.microsoft.com/office/drawing/2014/main" id="{BDC051AA-9D59-4B82-A4C9-2026CDFA3794}"/>
              </a:ext>
            </a:extLst>
          </p:cNvPr>
          <p:cNvSpPr/>
          <p:nvPr/>
        </p:nvSpPr>
        <p:spPr>
          <a:xfrm>
            <a:off x="911114" y="2860042"/>
            <a:ext cx="757990" cy="583906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CCD08A4-F191-4544-9596-9ABCE824D8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228" y="2975475"/>
            <a:ext cx="430323" cy="4135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0D04BA-DD36-4286-A813-4D0E056D73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1685" t="12467" r="19453"/>
          <a:stretch/>
        </p:blipFill>
        <p:spPr>
          <a:xfrm>
            <a:off x="5493656" y="3044509"/>
            <a:ext cx="3899780" cy="3053746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BFA2848-BCDC-4775-85DE-990FBC6B4CF1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3. SAN </a:t>
            </a:r>
            <a:r>
              <a:rPr lang="ko-KR" altLang="en-US" dirty="0"/>
              <a:t>핵심 기능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D225F9-D83F-4253-8209-246F2CA5EC05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●●●○○○</a:t>
            </a:r>
          </a:p>
        </p:txBody>
      </p:sp>
    </p:spTree>
    <p:extLst>
      <p:ext uri="{BB962C8B-B14F-4D97-AF65-F5344CB8AC3E}">
        <p14:creationId xmlns:p14="http://schemas.microsoft.com/office/powerpoint/2010/main" val="2205655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751A1-99A3-4F0A-ABC7-6D4BF651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7987"/>
            <a:ext cx="10515600" cy="638613"/>
          </a:xfrm>
        </p:spPr>
        <p:txBody>
          <a:bodyPr>
            <a:noAutofit/>
          </a:bodyPr>
          <a:lstStyle/>
          <a:p>
            <a:r>
              <a:rPr lang="ko-KR" altLang="en-US" sz="4400" dirty="0"/>
              <a:t>지식의 </a:t>
            </a:r>
            <a:r>
              <a:rPr lang="en-US" altLang="ko-KR" sz="4400" dirty="0"/>
              <a:t>SAN</a:t>
            </a:r>
            <a:r>
              <a:rPr lang="ko-KR" altLang="en-US" sz="4400" dirty="0"/>
              <a:t>을 </a:t>
            </a:r>
            <a:r>
              <a:rPr lang="ko-KR" altLang="en-US" sz="4400" dirty="0" err="1"/>
              <a:t>가꾸어보세요</a:t>
            </a:r>
            <a:endParaRPr lang="ko-KR" altLang="en-US" sz="4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02C7E7-3B66-4E93-98F2-466AFD585430}"/>
              </a:ext>
            </a:extLst>
          </p:cNvPr>
          <p:cNvSpPr/>
          <p:nvPr/>
        </p:nvSpPr>
        <p:spPr>
          <a:xfrm>
            <a:off x="5033961" y="3429000"/>
            <a:ext cx="2124075" cy="471923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n-ea"/>
              </a:rPr>
              <a:t>→ 시연 바로가기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EF552-3CD9-48D9-BEE3-347DEE3F554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4. </a:t>
            </a:r>
            <a:r>
              <a:rPr lang="ko-KR" altLang="en-US" dirty="0"/>
              <a:t>시연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6F637-0033-443F-85C2-807E2B0E1F5A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●●●●○○</a:t>
            </a:r>
          </a:p>
        </p:txBody>
      </p:sp>
    </p:spTree>
    <p:extLst>
      <p:ext uri="{BB962C8B-B14F-4D97-AF65-F5344CB8AC3E}">
        <p14:creationId xmlns:p14="http://schemas.microsoft.com/office/powerpoint/2010/main" val="113189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크롬 </a:t>
            </a:r>
            <a:r>
              <a:rPr lang="ko-KR" altLang="en-US" dirty="0" err="1"/>
              <a:t>익스텐션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5AD23-93BA-42E2-88BC-FD7AF56E601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F809D-91E2-464F-97F2-3BC9971FA7F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5417C0-9367-4364-BC88-B59BC8632E35}"/>
              </a:ext>
            </a:extLst>
          </p:cNvPr>
          <p:cNvSpPr txBox="1"/>
          <p:nvPr/>
        </p:nvSpPr>
        <p:spPr>
          <a:xfrm>
            <a:off x="1750790" y="979498"/>
            <a:ext cx="866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웹 학습 환경을 고려한 사이드 패널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F5F3BC-7E0D-4184-950C-965BA4E7F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54" b="5694"/>
          <a:stretch/>
        </p:blipFill>
        <p:spPr>
          <a:xfrm>
            <a:off x="2593892" y="1810828"/>
            <a:ext cx="7004216" cy="3543821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45765AF-5538-4808-8687-4D309C2D4D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86" t="36666" r="2336" b="4586"/>
          <a:stretch/>
        </p:blipFill>
        <p:spPr>
          <a:xfrm>
            <a:off x="7765031" y="4794069"/>
            <a:ext cx="1833077" cy="5605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E5734577-4514-4F7A-A802-FCC83211E45C}"/>
              </a:ext>
            </a:extLst>
          </p:cNvPr>
          <p:cNvGrpSpPr/>
          <p:nvPr/>
        </p:nvGrpSpPr>
        <p:grpSpPr>
          <a:xfrm>
            <a:off x="2593892" y="1819233"/>
            <a:ext cx="5144048" cy="3543821"/>
            <a:chOff x="1502861" y="1948393"/>
            <a:chExt cx="4197740" cy="3031593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446281-5013-4116-8A3C-8F12C90708DA}"/>
                </a:ext>
              </a:extLst>
            </p:cNvPr>
            <p:cNvSpPr/>
            <p:nvPr/>
          </p:nvSpPr>
          <p:spPr>
            <a:xfrm>
              <a:off x="1502861" y="1948393"/>
              <a:ext cx="4197740" cy="3031593"/>
            </a:xfrm>
            <a:prstGeom prst="rect">
              <a:avLst/>
            </a:prstGeom>
            <a:solidFill>
              <a:schemeClr val="accent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10EAA15-31FA-4DC9-8268-9D45F795918C}"/>
                </a:ext>
              </a:extLst>
            </p:cNvPr>
            <p:cNvSpPr txBox="1"/>
            <p:nvPr/>
          </p:nvSpPr>
          <p:spPr>
            <a:xfrm>
              <a:off x="2744226" y="3237144"/>
              <a:ext cx="1457498" cy="5529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+mj-ea"/>
                  <a:ea typeface="+mj-ea"/>
                </a:rPr>
                <a:t>URL,</a:t>
              </a:r>
              <a:r>
                <a:rPr lang="ko-KR" altLang="en-US" dirty="0">
                  <a:latin typeface="+mj-ea"/>
                  <a:ea typeface="+mj-ea"/>
                </a:rPr>
                <a:t> 원문 데이터</a:t>
              </a:r>
              <a:endParaRPr lang="en-US" altLang="ko-KR" dirty="0">
                <a:latin typeface="+mj-ea"/>
                <a:ea typeface="+mj-ea"/>
              </a:endParaRPr>
            </a:p>
            <a:p>
              <a:pPr algn="ctr"/>
              <a:r>
                <a:rPr lang="ko-KR" altLang="en-US" dirty="0">
                  <a:latin typeface="+mj-ea"/>
                  <a:ea typeface="+mj-ea"/>
                </a:rPr>
                <a:t>간편 수집</a:t>
              </a: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BD64A3-5D5C-4449-B7F1-6D23E8707079}"/>
              </a:ext>
            </a:extLst>
          </p:cNvPr>
          <p:cNvSpPr/>
          <p:nvPr/>
        </p:nvSpPr>
        <p:spPr>
          <a:xfrm>
            <a:off x="7737940" y="2279468"/>
            <a:ext cx="1860168" cy="1149531"/>
          </a:xfrm>
          <a:prstGeom prst="rect">
            <a:avLst/>
          </a:prstGeom>
          <a:solidFill>
            <a:schemeClr val="accent2">
              <a:alpha val="12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471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크롬 </a:t>
            </a:r>
            <a:r>
              <a:rPr lang="ko-KR" altLang="en-US" dirty="0" err="1"/>
              <a:t>익스텐션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5AD23-93BA-42E2-88BC-FD7AF56E601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F809D-91E2-464F-97F2-3BC9971FA7F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5417C0-9367-4364-BC88-B59BC8632E35}"/>
              </a:ext>
            </a:extLst>
          </p:cNvPr>
          <p:cNvSpPr txBox="1"/>
          <p:nvPr/>
        </p:nvSpPr>
        <p:spPr>
          <a:xfrm>
            <a:off x="1750790" y="979498"/>
            <a:ext cx="866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웹 학습 환경을 고려한 사이드 패널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F5F3BC-7E0D-4184-950C-965BA4E7F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54" b="5694"/>
          <a:stretch/>
        </p:blipFill>
        <p:spPr>
          <a:xfrm>
            <a:off x="2593892" y="1810828"/>
            <a:ext cx="7004216" cy="3543821"/>
          </a:xfrm>
          <a:prstGeom prst="rect">
            <a:avLst/>
          </a:prstGeom>
          <a:effectLst>
            <a:outerShdw blurRad="139700" dist="127000" dir="2700000" algn="tl" rotWithShape="0">
              <a:prstClr val="black">
                <a:alpha val="37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446281-5013-4116-8A3C-8F12C90708DA}"/>
              </a:ext>
            </a:extLst>
          </p:cNvPr>
          <p:cNvSpPr/>
          <p:nvPr/>
        </p:nvSpPr>
        <p:spPr>
          <a:xfrm>
            <a:off x="2593892" y="1819233"/>
            <a:ext cx="7004216" cy="3543821"/>
          </a:xfrm>
          <a:prstGeom prst="rect">
            <a:avLst/>
          </a:prstGeom>
          <a:solidFill>
            <a:schemeClr val="accent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45765AF-5538-4808-8687-4D309C2D4D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86" t="36666" r="2336" b="4586"/>
          <a:stretch/>
        </p:blipFill>
        <p:spPr>
          <a:xfrm>
            <a:off x="6526816" y="4349935"/>
            <a:ext cx="2986387" cy="9132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BD64A3-5D5C-4449-B7F1-6D23E8707079}"/>
              </a:ext>
            </a:extLst>
          </p:cNvPr>
          <p:cNvSpPr/>
          <p:nvPr/>
        </p:nvSpPr>
        <p:spPr>
          <a:xfrm>
            <a:off x="6526815" y="4349935"/>
            <a:ext cx="2980173" cy="913278"/>
          </a:xfrm>
          <a:prstGeom prst="rect">
            <a:avLst/>
          </a:prstGeom>
          <a:solidFill>
            <a:schemeClr val="accent2">
              <a:alpha val="12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4D4899-22C9-4802-AB6E-292B8B85D89C}"/>
              </a:ext>
            </a:extLst>
          </p:cNvPr>
          <p:cNvSpPr txBox="1"/>
          <p:nvPr/>
        </p:nvSpPr>
        <p:spPr>
          <a:xfrm>
            <a:off x="7243292" y="3879532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Window</a:t>
            </a:r>
            <a:r>
              <a:rPr lang="ko-KR" altLang="en-US" dirty="0">
                <a:latin typeface="+mj-ea"/>
                <a:ea typeface="+mj-ea"/>
              </a:rPr>
              <a:t> 알림</a:t>
            </a:r>
          </a:p>
        </p:txBody>
      </p:sp>
    </p:spTree>
    <p:extLst>
      <p:ext uri="{BB962C8B-B14F-4D97-AF65-F5344CB8AC3E}">
        <p14:creationId xmlns:p14="http://schemas.microsoft.com/office/powerpoint/2010/main" val="860086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구현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5AD23-93BA-42E2-88BC-FD7AF56E601A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F809D-91E2-464F-97F2-3BC9971FA7F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08C406F-8FF9-4E78-91EC-78B58642177A}"/>
              </a:ext>
            </a:extLst>
          </p:cNvPr>
          <p:cNvGrpSpPr/>
          <p:nvPr/>
        </p:nvGrpSpPr>
        <p:grpSpPr>
          <a:xfrm>
            <a:off x="3267979" y="3036519"/>
            <a:ext cx="652577" cy="133350"/>
            <a:chOff x="2688880" y="4403761"/>
            <a:chExt cx="652577" cy="133350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24FCD00F-7949-4065-978C-08B7ED689D5B}"/>
                </a:ext>
              </a:extLst>
            </p:cNvPr>
            <p:cNvCxnSpPr/>
            <p:nvPr/>
          </p:nvCxnSpPr>
          <p:spPr>
            <a:xfrm>
              <a:off x="2688880" y="4403761"/>
              <a:ext cx="65257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2A0DDECF-3CBC-4C25-ADE9-2FFBACA40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8880" y="4537111"/>
              <a:ext cx="65257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8C3E8FA-4C30-4E56-947A-D483CC4A0197}"/>
              </a:ext>
            </a:extLst>
          </p:cNvPr>
          <p:cNvGrpSpPr/>
          <p:nvPr/>
        </p:nvGrpSpPr>
        <p:grpSpPr>
          <a:xfrm>
            <a:off x="4308183" y="2632153"/>
            <a:ext cx="1307508" cy="1205104"/>
            <a:chOff x="3624334" y="4108236"/>
            <a:chExt cx="1307508" cy="120510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95EC80-F97F-49B2-9D77-AC2E7BDCB855}"/>
                </a:ext>
              </a:extLst>
            </p:cNvPr>
            <p:cNvSpPr txBox="1"/>
            <p:nvPr/>
          </p:nvSpPr>
          <p:spPr>
            <a:xfrm>
              <a:off x="3624334" y="4974786"/>
              <a:ext cx="13075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메인 스레드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D8712773-499C-4BE6-96E8-02C2A20DC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4813" y="4108236"/>
              <a:ext cx="866550" cy="866550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A1B9675-9A52-46C6-AC2C-E50B8D91FD90}"/>
              </a:ext>
            </a:extLst>
          </p:cNvPr>
          <p:cNvGrpSpPr/>
          <p:nvPr/>
        </p:nvGrpSpPr>
        <p:grpSpPr>
          <a:xfrm>
            <a:off x="1572846" y="2574335"/>
            <a:ext cx="1307508" cy="1262922"/>
            <a:chOff x="985079" y="4050418"/>
            <a:chExt cx="1307508" cy="12629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9859DD8-420E-45D0-8143-CA06AE899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6649" y="4050418"/>
              <a:ext cx="924368" cy="924368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5A5342-73F2-4869-BA23-D0FCE8E79952}"/>
                </a:ext>
              </a:extLst>
            </p:cNvPr>
            <p:cNvSpPr txBox="1"/>
            <p:nvPr/>
          </p:nvSpPr>
          <p:spPr>
            <a:xfrm>
              <a:off x="985079" y="4974786"/>
              <a:ext cx="13075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클라이언트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40CE57E-D75C-4153-BAD3-7B0A8B257D98}"/>
              </a:ext>
            </a:extLst>
          </p:cNvPr>
          <p:cNvGrpSpPr/>
          <p:nvPr/>
        </p:nvGrpSpPr>
        <p:grpSpPr>
          <a:xfrm>
            <a:off x="7006008" y="1690011"/>
            <a:ext cx="1307508" cy="1237667"/>
            <a:chOff x="6524126" y="4079951"/>
            <a:chExt cx="1307508" cy="1237667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B8387DB-BF92-488C-8B3C-361471FC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25129" y="4079951"/>
              <a:ext cx="905501" cy="90550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BDD2B5-8D51-4C67-A49A-9D4C1151797C}"/>
                </a:ext>
              </a:extLst>
            </p:cNvPr>
            <p:cNvSpPr txBox="1"/>
            <p:nvPr/>
          </p:nvSpPr>
          <p:spPr>
            <a:xfrm>
              <a:off x="6524126" y="4979064"/>
              <a:ext cx="130750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accent1"/>
                  </a:solidFill>
                  <a:latin typeface="+mn-ea"/>
                </a:rPr>
                <a:t>DB</a:t>
              </a:r>
              <a:endParaRPr lang="ko-KR" altLang="en-US" sz="1600" dirty="0">
                <a:solidFill>
                  <a:schemeClr val="accent1"/>
                </a:solidFill>
                <a:latin typeface="+mn-ea"/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D5DF695-398D-4FAE-BD45-7310F5397E35}"/>
              </a:ext>
            </a:extLst>
          </p:cNvPr>
          <p:cNvCxnSpPr>
            <a:cxnSpLocks/>
          </p:cNvCxnSpPr>
          <p:nvPr/>
        </p:nvCxnSpPr>
        <p:spPr>
          <a:xfrm flipV="1">
            <a:off x="5853274" y="2348236"/>
            <a:ext cx="737747" cy="3388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7033904-BF20-48EB-AC7F-F7BD4BEFB719}"/>
              </a:ext>
            </a:extLst>
          </p:cNvPr>
          <p:cNvCxnSpPr>
            <a:cxnSpLocks/>
          </p:cNvCxnSpPr>
          <p:nvPr/>
        </p:nvCxnSpPr>
        <p:spPr>
          <a:xfrm>
            <a:off x="5842000" y="3775514"/>
            <a:ext cx="777457" cy="30436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630B4E0-B710-4324-989A-3A56E4703820}"/>
              </a:ext>
            </a:extLst>
          </p:cNvPr>
          <p:cNvCxnSpPr>
            <a:cxnSpLocks/>
          </p:cNvCxnSpPr>
          <p:nvPr/>
        </p:nvCxnSpPr>
        <p:spPr>
          <a:xfrm flipH="1" flipV="1">
            <a:off x="7655453" y="3064237"/>
            <a:ext cx="1" cy="6002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593FBEF-36C6-4758-8B6E-C9F3DB8A6AB7}"/>
              </a:ext>
            </a:extLst>
          </p:cNvPr>
          <p:cNvSpPr txBox="1"/>
          <p:nvPr/>
        </p:nvSpPr>
        <p:spPr>
          <a:xfrm>
            <a:off x="2933146" y="3339464"/>
            <a:ext cx="13075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600" b="1">
                <a:solidFill>
                  <a:schemeClr val="accent3"/>
                </a:solidFill>
                <a:latin typeface="+mn-ea"/>
              </a:defRPr>
            </a:lvl1pPr>
          </a:lstStyle>
          <a:p>
            <a:pPr algn="ctr"/>
            <a:r>
              <a:rPr lang="en-US" altLang="ko-KR" dirty="0"/>
              <a:t>200 OK</a:t>
            </a:r>
          </a:p>
          <a:p>
            <a:pPr algn="ctr"/>
            <a:r>
              <a:rPr lang="ko-KR" altLang="en-US" dirty="0"/>
              <a:t>즉시 반환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F492D6E-12F7-4C0C-A935-DC95E172E8BD}"/>
              </a:ext>
            </a:extLst>
          </p:cNvPr>
          <p:cNvGrpSpPr/>
          <p:nvPr/>
        </p:nvGrpSpPr>
        <p:grpSpPr>
          <a:xfrm>
            <a:off x="6956131" y="3821866"/>
            <a:ext cx="1526786" cy="1616468"/>
            <a:chOff x="9411145" y="1949498"/>
            <a:chExt cx="1526786" cy="161646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14C499C-02DF-4EE5-B922-65158BD5C2B8}"/>
                </a:ext>
              </a:extLst>
            </p:cNvPr>
            <p:cNvSpPr txBox="1"/>
            <p:nvPr/>
          </p:nvSpPr>
          <p:spPr>
            <a:xfrm>
              <a:off x="9411145" y="3227412"/>
              <a:ext cx="15267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백그라운드 워커</a:t>
              </a: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CF32910A-8816-4894-81C0-3BC2F4DAE7B4}"/>
                </a:ext>
              </a:extLst>
            </p:cNvPr>
            <p:cNvGrpSpPr/>
            <p:nvPr/>
          </p:nvGrpSpPr>
          <p:grpSpPr>
            <a:xfrm>
              <a:off x="9560107" y="1949498"/>
              <a:ext cx="1228862" cy="1204710"/>
              <a:chOff x="9531286" y="1949498"/>
              <a:chExt cx="1228862" cy="1204710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D4316C8-144A-4148-BCF3-D733F495A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31286" y="1949498"/>
                <a:ext cx="565753" cy="565753"/>
              </a:xfrm>
              <a:prstGeom prst="rect">
                <a:avLst/>
              </a:prstGeom>
            </p:spPr>
          </p:pic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B618FB40-7065-4817-AE10-592119B4F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94395" y="2176951"/>
                <a:ext cx="565753" cy="565753"/>
              </a:xfrm>
              <a:prstGeom prst="rect">
                <a:avLst/>
              </a:prstGeom>
            </p:spPr>
          </p:pic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162F73C4-F256-43DD-A9F3-23D8DF777D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0262" y="2588455"/>
                <a:ext cx="565753" cy="565753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43AEAD3-059D-4117-825D-D7E8AC0D7E1E}"/>
              </a:ext>
            </a:extLst>
          </p:cNvPr>
          <p:cNvSpPr txBox="1"/>
          <p:nvPr/>
        </p:nvSpPr>
        <p:spPr>
          <a:xfrm>
            <a:off x="8482917" y="1745278"/>
            <a:ext cx="24134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>
                <a:solidFill>
                  <a:schemeClr val="accent3"/>
                </a:solidFill>
                <a:latin typeface="+mn-ea"/>
              </a:rPr>
              <a:t>PENDING </a:t>
            </a:r>
            <a:endParaRPr lang="en-US" altLang="ko-KR" sz="1600" b="1" dirty="0">
              <a:solidFill>
                <a:schemeClr val="accent3"/>
              </a:solidFill>
              <a:latin typeface="+mn-ea"/>
            </a:endParaRPr>
          </a:p>
          <a:p>
            <a:r>
              <a:rPr lang="ko-KR" altLang="ko-KR" sz="1600" b="1" dirty="0">
                <a:solidFill>
                  <a:schemeClr val="accent3"/>
                </a:solidFill>
                <a:latin typeface="+mn-ea"/>
              </a:rPr>
              <a:t>→ PROCESSING </a:t>
            </a:r>
            <a:endParaRPr lang="en-US" altLang="ko-KR" sz="1600" b="1" dirty="0">
              <a:solidFill>
                <a:schemeClr val="accent3"/>
              </a:solidFill>
              <a:latin typeface="+mn-ea"/>
            </a:endParaRPr>
          </a:p>
          <a:p>
            <a:r>
              <a:rPr lang="ko-KR" altLang="ko-KR" sz="1600" b="1" dirty="0">
                <a:solidFill>
                  <a:schemeClr val="accent3"/>
                </a:solidFill>
                <a:latin typeface="+mn-ea"/>
              </a:rPr>
              <a:t>→ COMPLETED/FAILED</a:t>
            </a:r>
            <a:endParaRPr lang="ko-KR" altLang="en-US" sz="1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EEE314D-A96A-45C5-BA1A-31DA888D5D81}"/>
              </a:ext>
            </a:extLst>
          </p:cNvPr>
          <p:cNvCxnSpPr>
            <a:cxnSpLocks/>
          </p:cNvCxnSpPr>
          <p:nvPr/>
        </p:nvCxnSpPr>
        <p:spPr>
          <a:xfrm flipV="1">
            <a:off x="2688784" y="1987302"/>
            <a:ext cx="3902238" cy="478785"/>
          </a:xfrm>
          <a:prstGeom prst="straightConnector1">
            <a:avLst/>
          </a:prstGeom>
          <a:ln w="12700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8CF1444-72D8-406D-9F65-FF4D8436ED08}"/>
              </a:ext>
            </a:extLst>
          </p:cNvPr>
          <p:cNvSpPr txBox="1"/>
          <p:nvPr/>
        </p:nvSpPr>
        <p:spPr>
          <a:xfrm>
            <a:off x="3874908" y="1804207"/>
            <a:ext cx="1307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600" b="1">
                <a:solidFill>
                  <a:schemeClr val="accent3"/>
                </a:solidFill>
                <a:latin typeface="+mn-ea"/>
              </a:defRPr>
            </a:lvl1pPr>
          </a:lstStyle>
          <a:p>
            <a:pPr algn="ctr"/>
            <a:r>
              <a:rPr lang="en-US" altLang="ko-KR" dirty="0"/>
              <a:t>Polling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BB04D4-9F56-49F0-9B97-D008D17DB453}"/>
              </a:ext>
            </a:extLst>
          </p:cNvPr>
          <p:cNvSpPr txBox="1"/>
          <p:nvPr/>
        </p:nvSpPr>
        <p:spPr>
          <a:xfrm>
            <a:off x="1750790" y="979498"/>
            <a:ext cx="866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 err="1"/>
              <a:t>작업별</a:t>
            </a:r>
            <a:r>
              <a:rPr lang="ko-KR" altLang="en-US" dirty="0"/>
              <a:t> 스레드 풀 분리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390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FB020-3331-4870-8B19-2201C3EF182C}"/>
              </a:ext>
            </a:extLst>
          </p:cNvPr>
          <p:cNvSpPr txBox="1"/>
          <p:nvPr/>
        </p:nvSpPr>
        <p:spPr>
          <a:xfrm>
            <a:off x="1750790" y="979498"/>
            <a:ext cx="866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원문 요약</a:t>
            </a:r>
            <a:r>
              <a:rPr lang="en-US" altLang="ko-KR" dirty="0"/>
              <a:t> / </a:t>
            </a:r>
            <a:r>
              <a:rPr lang="ko-KR" altLang="en-US" dirty="0"/>
              <a:t>태그와 카테고리 생성</a:t>
            </a:r>
            <a:r>
              <a:rPr lang="en-US" altLang="ko-KR" dirty="0"/>
              <a:t> / </a:t>
            </a:r>
            <a:r>
              <a:rPr lang="ko-KR" altLang="en-US" dirty="0" err="1"/>
              <a:t>임베딩</a:t>
            </a:r>
            <a:r>
              <a:rPr lang="en-US" altLang="ko-KR" dirty="0"/>
              <a:t> / TIL </a:t>
            </a:r>
            <a:r>
              <a:rPr lang="ko-KR" altLang="en-US" dirty="0"/>
              <a:t>생성 </a:t>
            </a:r>
            <a:r>
              <a:rPr lang="en-US" altLang="ko-KR" dirty="0"/>
              <a:t>/ </a:t>
            </a:r>
            <a:r>
              <a:rPr lang="ko-KR" altLang="en-US" dirty="0"/>
              <a:t>퀴즈와 리콜 컨텐츠 생성</a:t>
            </a:r>
            <a:endParaRPr lang="en-US" altLang="ko-KR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31F7129-2ABA-45C6-8CCF-93556139E934}"/>
              </a:ext>
            </a:extLst>
          </p:cNvPr>
          <p:cNvSpPr/>
          <p:nvPr/>
        </p:nvSpPr>
        <p:spPr>
          <a:xfrm>
            <a:off x="2809424" y="2202544"/>
            <a:ext cx="2452912" cy="2452912"/>
          </a:xfrm>
          <a:prstGeom prst="ellipse">
            <a:avLst/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43C0AD1-4593-4981-A472-EAB94E832C80}"/>
              </a:ext>
            </a:extLst>
          </p:cNvPr>
          <p:cNvSpPr/>
          <p:nvPr/>
        </p:nvSpPr>
        <p:spPr>
          <a:xfrm>
            <a:off x="4863196" y="2202544"/>
            <a:ext cx="2452912" cy="2452912"/>
          </a:xfrm>
          <a:prstGeom prst="ellipse">
            <a:avLst/>
          </a:prstGeom>
          <a:solidFill>
            <a:schemeClr val="accent2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98562A7-18E5-4187-9325-B9536F07E636}"/>
              </a:ext>
            </a:extLst>
          </p:cNvPr>
          <p:cNvSpPr/>
          <p:nvPr/>
        </p:nvSpPr>
        <p:spPr>
          <a:xfrm>
            <a:off x="6916968" y="2202544"/>
            <a:ext cx="2452912" cy="2452912"/>
          </a:xfrm>
          <a:prstGeom prst="ellipse">
            <a:avLst/>
          </a:prstGeom>
          <a:solidFill>
            <a:schemeClr val="accent3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BFABC-6F4F-4951-A526-2E3EE3392460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35D9CF-F065-4C5C-9E49-2B89A7FA5141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AD1FEB-88A5-4C37-8023-C0E052A33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362" y="2679808"/>
            <a:ext cx="932606" cy="9326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00B201A-8428-4302-AE72-A87B5E5064EC}"/>
              </a:ext>
            </a:extLst>
          </p:cNvPr>
          <p:cNvSpPr txBox="1"/>
          <p:nvPr/>
        </p:nvSpPr>
        <p:spPr>
          <a:xfrm>
            <a:off x="5051881" y="3764603"/>
            <a:ext cx="2075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j-ea"/>
                <a:ea typeface="+mj-ea"/>
              </a:rPr>
              <a:t>ChatGPT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5.2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C24857-D570-45D8-838B-5D84D2656235}"/>
              </a:ext>
            </a:extLst>
          </p:cNvPr>
          <p:cNvSpPr txBox="1"/>
          <p:nvPr/>
        </p:nvSpPr>
        <p:spPr>
          <a:xfrm>
            <a:off x="2998108" y="3243082"/>
            <a:ext cx="2075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Map-Reduce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FFE9CA-77F5-4B0C-8FC2-BD3F5CA35B17}"/>
              </a:ext>
            </a:extLst>
          </p:cNvPr>
          <p:cNvSpPr txBox="1"/>
          <p:nvPr/>
        </p:nvSpPr>
        <p:spPr>
          <a:xfrm>
            <a:off x="7171647" y="3104582"/>
            <a:ext cx="1943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Cold Start </a:t>
            </a: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문제 해결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939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33EE7-575F-3944-3B44-440EC7BB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A7E12-85CD-C0A6-A36A-8CC6900A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컨텍스트 길이 제한 이슈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7E9C5-753E-BCDB-2829-3A9CC5533F79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DADE5C-B5D3-2AAD-365E-97922BC24DE6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1CC6BA6D-0D66-EB1A-9967-07B4C08D8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728" y="2670036"/>
            <a:ext cx="1269023" cy="1269023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52C545E3-9D98-4A8F-A0A1-2CEB67D35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692" y="2234118"/>
            <a:ext cx="871835" cy="871835"/>
          </a:xfrm>
          <a:prstGeom prst="rect">
            <a:avLst/>
          </a:prstGeom>
        </p:spPr>
      </p:pic>
      <p:sp>
        <p:nvSpPr>
          <p:cNvPr id="59" name="Rounded Rectangle 15">
            <a:extLst>
              <a:ext uri="{FF2B5EF4-FFF2-40B4-BE49-F238E27FC236}">
                <a16:creationId xmlns:a16="http://schemas.microsoft.com/office/drawing/2014/main" id="{DD3CD061-3896-41C2-6F9C-B8AD9398C7BA}"/>
              </a:ext>
            </a:extLst>
          </p:cNvPr>
          <p:cNvSpPr/>
          <p:nvPr/>
        </p:nvSpPr>
        <p:spPr>
          <a:xfrm>
            <a:off x="2728926" y="2560862"/>
            <a:ext cx="2215662" cy="1584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438A748-5CFA-8BD1-A831-57A553AB1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740" y="3160204"/>
            <a:ext cx="468225" cy="46822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6B89A05-27E9-9970-38EA-449D52E1A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060" y="3149947"/>
            <a:ext cx="468225" cy="468225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2983476-2569-81F7-9BCD-0CB62C488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380" y="3149946"/>
            <a:ext cx="468225" cy="46822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5A0EEC1-FE94-92AF-7F12-04CB45667D62}"/>
              </a:ext>
            </a:extLst>
          </p:cNvPr>
          <p:cNvSpPr txBox="1"/>
          <p:nvPr/>
        </p:nvSpPr>
        <p:spPr>
          <a:xfrm>
            <a:off x="3190539" y="2680998"/>
            <a:ext cx="1292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2211D"/>
                </a:solidFill>
                <a:latin typeface="+mj-ea"/>
                <a:ea typeface="+mj-ea"/>
              </a:rPr>
              <a:t>스크랩 원문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8C3B0B9E-0CDA-9FE6-D752-5538F22AC7D3}"/>
              </a:ext>
            </a:extLst>
          </p:cNvPr>
          <p:cNvSpPr txBox="1"/>
          <p:nvPr/>
        </p:nvSpPr>
        <p:spPr>
          <a:xfrm>
            <a:off x="3628498" y="3645963"/>
            <a:ext cx="416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⋮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53" name="화살표: 오른쪽 2052">
            <a:extLst>
              <a:ext uri="{FF2B5EF4-FFF2-40B4-BE49-F238E27FC236}">
                <a16:creationId xmlns:a16="http://schemas.microsoft.com/office/drawing/2014/main" id="{604D4ACF-2952-9CCA-76A7-8A130CDC5DA5}"/>
              </a:ext>
            </a:extLst>
          </p:cNvPr>
          <p:cNvSpPr/>
          <p:nvPr/>
        </p:nvSpPr>
        <p:spPr>
          <a:xfrm>
            <a:off x="5657430" y="2949960"/>
            <a:ext cx="1269023" cy="668579"/>
          </a:xfrm>
          <a:prstGeom prst="rightArrow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C70E04E1-DC02-5256-0ADD-808C41796848}"/>
              </a:ext>
            </a:extLst>
          </p:cNvPr>
          <p:cNvSpPr txBox="1"/>
          <p:nvPr/>
        </p:nvSpPr>
        <p:spPr>
          <a:xfrm>
            <a:off x="5447146" y="3754393"/>
            <a:ext cx="1689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TIL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생성 요청</a:t>
            </a:r>
            <a:endParaRPr lang="en-US" altLang="ko-KR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BBD3AF76-98C1-4C3D-3C16-CAC0B85A8D8F}"/>
              </a:ext>
            </a:extLst>
          </p:cNvPr>
          <p:cNvSpPr txBox="1"/>
          <p:nvPr/>
        </p:nvSpPr>
        <p:spPr>
          <a:xfrm>
            <a:off x="7622444" y="2234118"/>
            <a:ext cx="1689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에러 발생</a:t>
            </a:r>
            <a:endParaRPr lang="en-US" altLang="ko-KR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93C663-EEFD-4A09-8D48-036D4A4B6AB3}"/>
              </a:ext>
            </a:extLst>
          </p:cNvPr>
          <p:cNvSpPr txBox="1"/>
          <p:nvPr/>
        </p:nvSpPr>
        <p:spPr>
          <a:xfrm>
            <a:off x="2197100" y="1006089"/>
            <a:ext cx="779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GMS API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에서 컨텍스트 길이 제한 이슈 발생</a:t>
            </a:r>
          </a:p>
        </p:txBody>
      </p:sp>
    </p:spTree>
    <p:extLst>
      <p:ext uri="{BB962C8B-B14F-4D97-AF65-F5344CB8AC3E}">
        <p14:creationId xmlns:p14="http://schemas.microsoft.com/office/powerpoint/2010/main" val="4220611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5B26-B4E2-F8EB-5BDB-6EFB0359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36">
            <a:extLst>
              <a:ext uri="{FF2B5EF4-FFF2-40B4-BE49-F238E27FC236}">
                <a16:creationId xmlns:a16="http://schemas.microsoft.com/office/drawing/2014/main" id="{7CA6BF73-49E4-E37A-F3DE-FBBA4C0161EA}"/>
              </a:ext>
            </a:extLst>
          </p:cNvPr>
          <p:cNvSpPr/>
          <p:nvPr/>
        </p:nvSpPr>
        <p:spPr>
          <a:xfrm>
            <a:off x="2317960" y="1752793"/>
            <a:ext cx="1379331" cy="3500084"/>
          </a:xfrm>
          <a:prstGeom prst="rect">
            <a:avLst/>
          </a:prstGeom>
          <a:solidFill>
            <a:schemeClr val="accent2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ounded Rectangle 36">
            <a:extLst>
              <a:ext uri="{FF2B5EF4-FFF2-40B4-BE49-F238E27FC236}">
                <a16:creationId xmlns:a16="http://schemas.microsoft.com/office/drawing/2014/main" id="{6982CDAF-FE6C-3C86-CFAD-B7A3C4767552}"/>
              </a:ext>
            </a:extLst>
          </p:cNvPr>
          <p:cNvSpPr/>
          <p:nvPr/>
        </p:nvSpPr>
        <p:spPr>
          <a:xfrm>
            <a:off x="4786008" y="1752793"/>
            <a:ext cx="1291000" cy="3500084"/>
          </a:xfrm>
          <a:prstGeom prst="rect">
            <a:avLst/>
          </a:prstGeom>
          <a:solidFill>
            <a:schemeClr val="accent2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17ED335-E5B9-0BA0-555E-580828AB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컨텍스트 길이 제한 이슈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CDFB1-7975-A93B-3404-151140CDD22C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6424CB-9958-0F7E-B1CC-1CD7848A2A0F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147E046-2BB9-4E98-BC14-6ACBE16B4682}"/>
              </a:ext>
            </a:extLst>
          </p:cNvPr>
          <p:cNvGrpSpPr/>
          <p:nvPr/>
        </p:nvGrpSpPr>
        <p:grpSpPr>
          <a:xfrm>
            <a:off x="1333324" y="1930061"/>
            <a:ext cx="877024" cy="3406866"/>
            <a:chOff x="1218474" y="1555042"/>
            <a:chExt cx="877024" cy="3406866"/>
          </a:xfrm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A5B91D3-B542-F6FB-5805-44328F2B9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0643" y="1555042"/>
              <a:ext cx="732686" cy="73268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FF263F-1C98-05A0-2B3D-251EB534103A}"/>
                </a:ext>
              </a:extLst>
            </p:cNvPr>
            <p:cNvSpPr txBox="1"/>
            <p:nvPr/>
          </p:nvSpPr>
          <p:spPr>
            <a:xfrm>
              <a:off x="1218474" y="2287727"/>
              <a:ext cx="8770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원문 </a:t>
              </a:r>
              <a:r>
                <a:rPr lang="en-US" altLang="ko-KR" sz="1600">
                  <a:solidFill>
                    <a:schemeClr val="accent1"/>
                  </a:solidFill>
                  <a:latin typeface="+mn-ea"/>
                </a:rPr>
                <a:t>1</a:t>
              </a:r>
              <a:endParaRPr lang="en-US" altLang="ko-KR" sz="1600" dirty="0">
                <a:solidFill>
                  <a:schemeClr val="accent1"/>
                </a:solidFill>
                <a:latin typeface="+mn-ea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43AE667-E5DB-E7C0-1DEC-812656FE8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0643" y="2708961"/>
              <a:ext cx="732686" cy="73268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BA113-E324-7357-B3DF-FBEF09D62F14}"/>
                </a:ext>
              </a:extLst>
            </p:cNvPr>
            <p:cNvSpPr txBox="1"/>
            <p:nvPr/>
          </p:nvSpPr>
          <p:spPr>
            <a:xfrm>
              <a:off x="1218474" y="3441646"/>
              <a:ext cx="8770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원문 </a:t>
              </a:r>
              <a:r>
                <a:rPr lang="en-US" altLang="ko-KR" sz="1600">
                  <a:solidFill>
                    <a:schemeClr val="accent1"/>
                  </a:solidFill>
                  <a:latin typeface="+mn-ea"/>
                </a:rPr>
                <a:t>2</a:t>
              </a:r>
              <a:endParaRPr lang="en-US" altLang="ko-KR" sz="1600" dirty="0">
                <a:solidFill>
                  <a:schemeClr val="accent1"/>
                </a:solidFill>
                <a:latin typeface="+mn-ea"/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E5B507D-86BB-D16C-C276-14515E4D0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0643" y="3890669"/>
              <a:ext cx="732686" cy="73268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EE3528-1524-A727-97E0-BD599F8DC0DA}"/>
                </a:ext>
              </a:extLst>
            </p:cNvPr>
            <p:cNvSpPr txBox="1"/>
            <p:nvPr/>
          </p:nvSpPr>
          <p:spPr>
            <a:xfrm>
              <a:off x="1218474" y="4623354"/>
              <a:ext cx="8770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원문 </a:t>
              </a:r>
              <a:r>
                <a:rPr lang="en-US" altLang="ko-KR" sz="1600">
                  <a:solidFill>
                    <a:schemeClr val="accent1"/>
                  </a:solidFill>
                  <a:latin typeface="+mn-ea"/>
                </a:rPr>
                <a:t>3</a:t>
              </a:r>
              <a:endParaRPr lang="en-US" altLang="ko-KR" sz="1600" dirty="0">
                <a:solidFill>
                  <a:schemeClr val="accent1"/>
                </a:solidFill>
                <a:latin typeface="+mn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680BE1A-2520-4FD2-B6AE-4AAEC34D7E7A}"/>
              </a:ext>
            </a:extLst>
          </p:cNvPr>
          <p:cNvGrpSpPr/>
          <p:nvPr/>
        </p:nvGrpSpPr>
        <p:grpSpPr>
          <a:xfrm>
            <a:off x="2465989" y="2330760"/>
            <a:ext cx="1048249" cy="2288931"/>
            <a:chOff x="2317879" y="1955741"/>
            <a:chExt cx="704089" cy="2288931"/>
          </a:xfrm>
        </p:grpSpPr>
        <p:cxnSp>
          <p:nvCxnSpPr>
            <p:cNvPr id="14" name="Connector 22">
              <a:extLst>
                <a:ext uri="{FF2B5EF4-FFF2-40B4-BE49-F238E27FC236}">
                  <a16:creationId xmlns:a16="http://schemas.microsoft.com/office/drawing/2014/main" id="{57081F4E-97BD-C3DC-7049-08462C775837}"/>
                </a:ext>
              </a:extLst>
            </p:cNvPr>
            <p:cNvCxnSpPr/>
            <p:nvPr/>
          </p:nvCxnSpPr>
          <p:spPr>
            <a:xfrm>
              <a:off x="2317879" y="1955741"/>
              <a:ext cx="704089" cy="0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22">
              <a:extLst>
                <a:ext uri="{FF2B5EF4-FFF2-40B4-BE49-F238E27FC236}">
                  <a16:creationId xmlns:a16="http://schemas.microsoft.com/office/drawing/2014/main" id="{2D56574C-CD19-692D-E4B5-0FEBB85B77A1}"/>
                </a:ext>
              </a:extLst>
            </p:cNvPr>
            <p:cNvCxnSpPr/>
            <p:nvPr/>
          </p:nvCxnSpPr>
          <p:spPr>
            <a:xfrm>
              <a:off x="2317879" y="3057711"/>
              <a:ext cx="704089" cy="0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22">
              <a:extLst>
                <a:ext uri="{FF2B5EF4-FFF2-40B4-BE49-F238E27FC236}">
                  <a16:creationId xmlns:a16="http://schemas.microsoft.com/office/drawing/2014/main" id="{B1E3EC1D-6E89-3BA4-B97F-479058C9D131}"/>
                </a:ext>
              </a:extLst>
            </p:cNvPr>
            <p:cNvCxnSpPr/>
            <p:nvPr/>
          </p:nvCxnSpPr>
          <p:spPr>
            <a:xfrm>
              <a:off x="2317879" y="4244672"/>
              <a:ext cx="704089" cy="0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CDCE39A-2AB6-46F7-AFFE-6C23F609250E}"/>
              </a:ext>
            </a:extLst>
          </p:cNvPr>
          <p:cNvGrpSpPr/>
          <p:nvPr/>
        </p:nvGrpSpPr>
        <p:grpSpPr>
          <a:xfrm>
            <a:off x="3808560" y="1978715"/>
            <a:ext cx="835226" cy="3348218"/>
            <a:chOff x="3272581" y="1603696"/>
            <a:chExt cx="835226" cy="334821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81A4046-8D47-C129-2E29-6E8E2F6DC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6456" y="1603696"/>
              <a:ext cx="704089" cy="70408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37E0F3-44B3-7B8E-114C-17B2608CF306}"/>
                </a:ext>
              </a:extLst>
            </p:cNvPr>
            <p:cNvSpPr txBox="1"/>
            <p:nvPr/>
          </p:nvSpPr>
          <p:spPr>
            <a:xfrm>
              <a:off x="3272583" y="2282521"/>
              <a:ext cx="8118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요약 </a:t>
              </a:r>
              <a:r>
                <a:rPr lang="en-US" altLang="ko-KR" sz="1600">
                  <a:solidFill>
                    <a:schemeClr val="accent1"/>
                  </a:solidFill>
                  <a:latin typeface="+mn-ea"/>
                </a:rPr>
                <a:t>1</a:t>
              </a:r>
              <a:endParaRPr lang="en-US" altLang="ko-KR" sz="1600" dirty="0">
                <a:solidFill>
                  <a:schemeClr val="accent1"/>
                </a:solidFill>
                <a:latin typeface="+mn-ea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C6FC1BF-BB26-1424-B874-BA30633CE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6454" y="2756483"/>
              <a:ext cx="704089" cy="70408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6DD007-F854-16C4-7C0A-BA010DF7F945}"/>
                </a:ext>
              </a:extLst>
            </p:cNvPr>
            <p:cNvSpPr txBox="1"/>
            <p:nvPr/>
          </p:nvSpPr>
          <p:spPr>
            <a:xfrm>
              <a:off x="3272581" y="3435308"/>
              <a:ext cx="8118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요약 </a:t>
              </a:r>
              <a:r>
                <a:rPr lang="en-US" altLang="ko-KR" sz="1600">
                  <a:solidFill>
                    <a:schemeClr val="accent1"/>
                  </a:solidFill>
                  <a:latin typeface="+mn-ea"/>
                </a:rPr>
                <a:t>2</a:t>
              </a:r>
              <a:endParaRPr lang="en-US" altLang="ko-KR" sz="1600" dirty="0">
                <a:solidFill>
                  <a:schemeClr val="accent1"/>
                </a:solidFill>
                <a:latin typeface="+mn-ea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E7A1711-6897-42C5-D523-89052913A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0327" y="3934535"/>
              <a:ext cx="704089" cy="70408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9A6B72-9449-B504-E269-F612692E2FFD}"/>
                </a:ext>
              </a:extLst>
            </p:cNvPr>
            <p:cNvSpPr txBox="1"/>
            <p:nvPr/>
          </p:nvSpPr>
          <p:spPr>
            <a:xfrm>
              <a:off x="3295974" y="4613360"/>
              <a:ext cx="8118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요약 </a:t>
              </a:r>
              <a:r>
                <a:rPr lang="en-US" altLang="ko-KR" sz="1600">
                  <a:solidFill>
                    <a:schemeClr val="accent1"/>
                  </a:solidFill>
                  <a:latin typeface="+mn-ea"/>
                </a:rPr>
                <a:t>3</a:t>
              </a:r>
              <a:endParaRPr lang="en-US" altLang="ko-KR" sz="1600" dirty="0">
                <a:solidFill>
                  <a:schemeClr val="accent1"/>
                </a:solidFill>
                <a:latin typeface="+mn-ea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B28401A-2452-4B6F-B0B0-5E000B624B8D}"/>
              </a:ext>
            </a:extLst>
          </p:cNvPr>
          <p:cNvGrpSpPr/>
          <p:nvPr/>
        </p:nvGrpSpPr>
        <p:grpSpPr>
          <a:xfrm>
            <a:off x="9187937" y="2534956"/>
            <a:ext cx="1613925" cy="2126642"/>
            <a:chOff x="9045060" y="2159937"/>
            <a:chExt cx="1613925" cy="212664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16F56D8-C6A8-FF64-45DC-7143ADB2EE40}"/>
                </a:ext>
              </a:extLst>
            </p:cNvPr>
            <p:cNvSpPr txBox="1"/>
            <p:nvPr/>
          </p:nvSpPr>
          <p:spPr>
            <a:xfrm>
              <a:off x="9222227" y="3948025"/>
              <a:ext cx="1210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최종 </a:t>
              </a:r>
              <a:r>
                <a:rPr lang="en-US" altLang="ko-KR" sz="1600" dirty="0">
                  <a:solidFill>
                    <a:schemeClr val="accent1"/>
                  </a:solidFill>
                  <a:latin typeface="+mn-ea"/>
                </a:rPr>
                <a:t>TIL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1170C7F6-E624-3870-3706-E9A593C3F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45060" y="2159937"/>
              <a:ext cx="1613925" cy="1613925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9E7D673-FAE1-4BBE-962F-23153F0535FE}"/>
              </a:ext>
            </a:extLst>
          </p:cNvPr>
          <p:cNvGrpSpPr/>
          <p:nvPr/>
        </p:nvGrpSpPr>
        <p:grpSpPr>
          <a:xfrm>
            <a:off x="4868136" y="2369662"/>
            <a:ext cx="1110575" cy="2250031"/>
            <a:chOff x="4224309" y="1994642"/>
            <a:chExt cx="799085" cy="2250031"/>
          </a:xfrm>
        </p:grpSpPr>
        <p:cxnSp>
          <p:nvCxnSpPr>
            <p:cNvPr id="32" name="Connector 22">
              <a:extLst>
                <a:ext uri="{FF2B5EF4-FFF2-40B4-BE49-F238E27FC236}">
                  <a16:creationId xmlns:a16="http://schemas.microsoft.com/office/drawing/2014/main" id="{9BD86506-2C13-ADE2-F6AB-CA58569F8757}"/>
                </a:ext>
              </a:extLst>
            </p:cNvPr>
            <p:cNvCxnSpPr>
              <a:cxnSpLocks/>
            </p:cNvCxnSpPr>
            <p:nvPr/>
          </p:nvCxnSpPr>
          <p:spPr>
            <a:xfrm>
              <a:off x="4252926" y="1994642"/>
              <a:ext cx="740325" cy="626433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22">
              <a:extLst>
                <a:ext uri="{FF2B5EF4-FFF2-40B4-BE49-F238E27FC236}">
                  <a16:creationId xmlns:a16="http://schemas.microsoft.com/office/drawing/2014/main" id="{AB13D683-ADDB-40A9-50FD-52E90F7F7B05}"/>
                </a:ext>
              </a:extLst>
            </p:cNvPr>
            <p:cNvCxnSpPr>
              <a:cxnSpLocks/>
            </p:cNvCxnSpPr>
            <p:nvPr/>
          </p:nvCxnSpPr>
          <p:spPr>
            <a:xfrm>
              <a:off x="4224309" y="3023879"/>
              <a:ext cx="799085" cy="0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22">
              <a:extLst>
                <a:ext uri="{FF2B5EF4-FFF2-40B4-BE49-F238E27FC236}">
                  <a16:creationId xmlns:a16="http://schemas.microsoft.com/office/drawing/2014/main" id="{08CAE71F-CCE1-895E-3330-983A14FA2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4309" y="3429000"/>
              <a:ext cx="768942" cy="815673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50" name="Connector 22">
            <a:extLst>
              <a:ext uri="{FF2B5EF4-FFF2-40B4-BE49-F238E27FC236}">
                <a16:creationId xmlns:a16="http://schemas.microsoft.com/office/drawing/2014/main" id="{AA4ED7F5-5ECC-4679-8E75-B49A990ADAD3}"/>
              </a:ext>
            </a:extLst>
          </p:cNvPr>
          <p:cNvCxnSpPr>
            <a:cxnSpLocks/>
          </p:cNvCxnSpPr>
          <p:nvPr/>
        </p:nvCxnSpPr>
        <p:spPr>
          <a:xfrm>
            <a:off x="8128000" y="3424923"/>
            <a:ext cx="798473" cy="0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F9C909B-8314-4C1E-AE2B-29AC67F9F116}"/>
              </a:ext>
            </a:extLst>
          </p:cNvPr>
          <p:cNvGrpSpPr/>
          <p:nvPr/>
        </p:nvGrpSpPr>
        <p:grpSpPr>
          <a:xfrm>
            <a:off x="6450500" y="2682803"/>
            <a:ext cx="1416036" cy="1978795"/>
            <a:chOff x="5473913" y="2307784"/>
            <a:chExt cx="1416036" cy="1978795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63CD55C-2147-DAB6-712E-8C9EEF042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5473913" y="2307784"/>
              <a:ext cx="1416036" cy="1416036"/>
            </a:xfrm>
            <a:prstGeom prst="rect">
              <a:avLst/>
            </a:prstGeom>
          </p:spPr>
        </p:pic>
        <p:sp>
          <p:nvSpPr>
            <p:cNvPr id="2052" name="TextBox 2051">
              <a:extLst>
                <a:ext uri="{FF2B5EF4-FFF2-40B4-BE49-F238E27FC236}">
                  <a16:creationId xmlns:a16="http://schemas.microsoft.com/office/drawing/2014/main" id="{74A6449A-2A9A-7767-7B37-BC381397CA1F}"/>
                </a:ext>
              </a:extLst>
            </p:cNvPr>
            <p:cNvSpPr txBox="1"/>
            <p:nvPr/>
          </p:nvSpPr>
          <p:spPr>
            <a:xfrm>
              <a:off x="5578632" y="3948025"/>
              <a:ext cx="1210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1"/>
                  </a:solidFill>
                  <a:latin typeface="+mn-ea"/>
                </a:rPr>
                <a:t>요약본 병합</a:t>
              </a:r>
              <a:endParaRPr lang="en-US" altLang="ko-KR" sz="1600" dirty="0">
                <a:solidFill>
                  <a:schemeClr val="accent1"/>
                </a:solidFill>
                <a:latin typeface="+mn-ea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7063FB5-C79F-453C-B260-15E50BCBE092}"/>
              </a:ext>
            </a:extLst>
          </p:cNvPr>
          <p:cNvSpPr txBox="1"/>
          <p:nvPr/>
        </p:nvSpPr>
        <p:spPr>
          <a:xfrm>
            <a:off x="2197100" y="1006089"/>
            <a:ext cx="779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Map-Reduce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방식 도입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88B7B4-BA50-45C9-A2CE-43516460ECB8}"/>
              </a:ext>
            </a:extLst>
          </p:cNvPr>
          <p:cNvSpPr txBox="1"/>
          <p:nvPr/>
        </p:nvSpPr>
        <p:spPr>
          <a:xfrm>
            <a:off x="2575471" y="2946836"/>
            <a:ext cx="807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lt"/>
              </a:rPr>
              <a:t>MAP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B14ECA-7DEB-4C37-A704-85A87058ACD2}"/>
              </a:ext>
            </a:extLst>
          </p:cNvPr>
          <p:cNvSpPr txBox="1"/>
          <p:nvPr/>
        </p:nvSpPr>
        <p:spPr>
          <a:xfrm>
            <a:off x="4746425" y="2943355"/>
            <a:ext cx="1364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ko-KR" dirty="0"/>
              <a:t>REDUCE</a:t>
            </a:r>
          </a:p>
        </p:txBody>
      </p:sp>
    </p:spTree>
    <p:extLst>
      <p:ext uri="{BB962C8B-B14F-4D97-AF65-F5344CB8AC3E}">
        <p14:creationId xmlns:p14="http://schemas.microsoft.com/office/powerpoint/2010/main" val="63800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44" grpId="0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F7FC-7867-1651-7570-29A0C6A8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A848F9E7-024A-41D3-BF29-5EEE64F5D903}"/>
              </a:ext>
            </a:extLst>
          </p:cNvPr>
          <p:cNvSpPr/>
          <p:nvPr/>
        </p:nvSpPr>
        <p:spPr>
          <a:xfrm>
            <a:off x="6774619" y="1029742"/>
            <a:ext cx="2070358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A809AF-87C7-75ED-2028-D2B5903D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 Star </a:t>
            </a:r>
            <a:r>
              <a:rPr lang="ko-KR" altLang="en-US" dirty="0"/>
              <a:t>기반 컨텐츠 추천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B862FC-68AC-6616-5382-4D5F3E1B5A05}"/>
              </a:ext>
            </a:extLst>
          </p:cNvPr>
          <p:cNvSpPr txBox="1"/>
          <p:nvPr/>
        </p:nvSpPr>
        <p:spPr>
          <a:xfrm>
            <a:off x="2197100" y="1006089"/>
            <a:ext cx="779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신규 회원에게 스크랩 컨텐츠 추천으로 </a:t>
            </a:r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Cold Start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문제 해결</a:t>
            </a:r>
            <a:endParaRPr lang="en-US" altLang="ko-KR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E5C6C-83A6-5040-2307-4FB6EFAE5F40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FFDF65-918F-FBBD-C930-F779F6A8C08C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B337DC-6E7D-2232-B4E4-880251EEF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24" y="2036058"/>
            <a:ext cx="1099061" cy="109906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438CAF3-A008-7379-E66A-555691EB98EE}"/>
              </a:ext>
            </a:extLst>
          </p:cNvPr>
          <p:cNvSpPr txBox="1"/>
          <p:nvPr/>
        </p:nvSpPr>
        <p:spPr>
          <a:xfrm>
            <a:off x="584118" y="3266010"/>
            <a:ext cx="1480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GitHub Star</a:t>
            </a: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목록 조회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8302FA4B-9960-A6D2-4766-392C6744FF43}"/>
              </a:ext>
            </a:extLst>
          </p:cNvPr>
          <p:cNvSpPr/>
          <p:nvPr/>
        </p:nvSpPr>
        <p:spPr>
          <a:xfrm>
            <a:off x="2224890" y="2431634"/>
            <a:ext cx="716870" cy="295275"/>
          </a:xfrm>
          <a:prstGeom prst="rightArrow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8CAF2C7-58C1-94E7-A775-C8493FE14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065" y="2101364"/>
            <a:ext cx="932606" cy="93260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0D3FD96-CC78-4B71-6F13-274DF19F7576}"/>
              </a:ext>
            </a:extLst>
          </p:cNvPr>
          <p:cNvSpPr txBox="1"/>
          <p:nvPr/>
        </p:nvSpPr>
        <p:spPr>
          <a:xfrm>
            <a:off x="3000077" y="3259433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LLM </a:t>
            </a:r>
            <a:r>
              <a:rPr lang="ko-KR" altLang="en-US" b="1" dirty="0">
                <a:solidFill>
                  <a:schemeClr val="bg1"/>
                </a:solidFill>
              </a:rPr>
              <a:t>기반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관심사 추출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Tavily">
            <a:extLst>
              <a:ext uri="{FF2B5EF4-FFF2-40B4-BE49-F238E27FC236}">
                <a16:creationId xmlns:a16="http://schemas.microsoft.com/office/drawing/2014/main" id="{B6488DEC-456A-39A4-7951-51693557B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801" y="2101364"/>
            <a:ext cx="1051688" cy="105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C799BAA1-39A7-B31F-62DE-A86C0F28F92B}"/>
              </a:ext>
            </a:extLst>
          </p:cNvPr>
          <p:cNvSpPr/>
          <p:nvPr/>
        </p:nvSpPr>
        <p:spPr>
          <a:xfrm>
            <a:off x="4444301" y="2430757"/>
            <a:ext cx="716870" cy="295275"/>
          </a:xfrm>
          <a:prstGeom prst="rightArrow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EA8A95-F9C0-BE9D-EAB4-FBD3F1F8165B}"/>
              </a:ext>
            </a:extLst>
          </p:cNvPr>
          <p:cNvSpPr txBox="1"/>
          <p:nvPr/>
        </p:nvSpPr>
        <p:spPr>
          <a:xfrm>
            <a:off x="5244354" y="3259433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chemeClr val="bg1"/>
                </a:solidFill>
              </a:rPr>
              <a:t>Tavily</a:t>
            </a:r>
            <a:r>
              <a:rPr lang="en-US" altLang="ko-KR" b="1" dirty="0">
                <a:solidFill>
                  <a:schemeClr val="bg1"/>
                </a:solidFill>
              </a:rPr>
              <a:t> API</a:t>
            </a: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컨텐츠 검색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E801B3BF-13A9-CE57-F587-A1359A618FE6}"/>
              </a:ext>
            </a:extLst>
          </p:cNvPr>
          <p:cNvSpPr/>
          <p:nvPr/>
        </p:nvSpPr>
        <p:spPr>
          <a:xfrm>
            <a:off x="6679103" y="2443494"/>
            <a:ext cx="716870" cy="295275"/>
          </a:xfrm>
          <a:prstGeom prst="rightArrow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FD75BE2E-F414-B244-B1D8-281A1739C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619" y="1958762"/>
            <a:ext cx="1205498" cy="1205498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3A9B090-E83C-6CCC-925C-BC263A4B03C5}"/>
              </a:ext>
            </a:extLst>
          </p:cNvPr>
          <p:cNvSpPr txBox="1"/>
          <p:nvPr/>
        </p:nvSpPr>
        <p:spPr>
          <a:xfrm>
            <a:off x="7896786" y="33979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필터링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C2DA5B61-EF10-D2E2-5E3E-CD13CF45FCF6}"/>
              </a:ext>
            </a:extLst>
          </p:cNvPr>
          <p:cNvSpPr/>
          <p:nvPr/>
        </p:nvSpPr>
        <p:spPr>
          <a:xfrm>
            <a:off x="9226736" y="2443494"/>
            <a:ext cx="716870" cy="295275"/>
          </a:xfrm>
          <a:prstGeom prst="rightArrow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B0EAB597-8DF9-1338-6B1B-10B1FB717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1521" y="1993980"/>
            <a:ext cx="1205498" cy="120549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917D1FB-000C-4A7D-B195-D730622AF2D7}"/>
              </a:ext>
            </a:extLst>
          </p:cNvPr>
          <p:cNvSpPr txBox="1"/>
          <p:nvPr/>
        </p:nvSpPr>
        <p:spPr>
          <a:xfrm>
            <a:off x="10394942" y="3259433"/>
            <a:ext cx="1420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최종 컨텐츠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추천</a:t>
            </a:r>
            <a:endParaRPr lang="en-US" altLang="ko-K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680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F7FC-7867-1651-7570-29A0C6A8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116BE93C-F207-4F91-B04D-4097715AE93E}"/>
              </a:ext>
            </a:extLst>
          </p:cNvPr>
          <p:cNvSpPr/>
          <p:nvPr/>
        </p:nvSpPr>
        <p:spPr>
          <a:xfrm>
            <a:off x="6774619" y="1029742"/>
            <a:ext cx="2070358" cy="320638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A809AF-87C7-75ED-2028-D2B5903D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 Star </a:t>
            </a:r>
            <a:r>
              <a:rPr lang="ko-KR" altLang="en-US" dirty="0"/>
              <a:t>기반 컨텐츠 추천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B862FC-68AC-6616-5382-4D5F3E1B5A05}"/>
              </a:ext>
            </a:extLst>
          </p:cNvPr>
          <p:cNvSpPr txBox="1"/>
          <p:nvPr/>
        </p:nvSpPr>
        <p:spPr>
          <a:xfrm>
            <a:off x="2197100" y="1006089"/>
            <a:ext cx="779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신규 회원에게 스크랩 컨텐츠 추천으로 </a:t>
            </a:r>
            <a:r>
              <a:rPr lang="en-US" altLang="ko-KR" dirty="0">
                <a:solidFill>
                  <a:schemeClr val="accent1"/>
                </a:solidFill>
                <a:latin typeface="+mj-ea"/>
                <a:ea typeface="+mj-ea"/>
              </a:rPr>
              <a:t>Cold Start </a:t>
            </a:r>
            <a:r>
              <a:rPr lang="ko-KR" altLang="en-US" dirty="0">
                <a:solidFill>
                  <a:schemeClr val="accent1"/>
                </a:solidFill>
                <a:latin typeface="+mj-ea"/>
                <a:ea typeface="+mj-ea"/>
              </a:rPr>
              <a:t>문제 해결</a:t>
            </a:r>
            <a:endParaRPr lang="en-US" altLang="ko-KR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E5C6C-83A6-5040-2307-4FB6EFAE5F40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5. </a:t>
            </a:r>
            <a:r>
              <a:rPr lang="ko-KR" altLang="en-US" dirty="0"/>
              <a:t>활용 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FFDF65-918F-FBBD-C930-F779F6A8C08C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●●●●●○</a:t>
            </a:r>
          </a:p>
        </p:txBody>
      </p:sp>
      <p:sp>
        <p:nvSpPr>
          <p:cNvPr id="1024" name="Rounded Rectangle 40">
            <a:extLst>
              <a:ext uri="{FF2B5EF4-FFF2-40B4-BE49-F238E27FC236}">
                <a16:creationId xmlns:a16="http://schemas.microsoft.com/office/drawing/2014/main" id="{8A34515A-5C5E-CF48-5883-4DF936C0D531}"/>
              </a:ext>
            </a:extLst>
          </p:cNvPr>
          <p:cNvSpPr/>
          <p:nvPr/>
        </p:nvSpPr>
        <p:spPr>
          <a:xfrm>
            <a:off x="6457714" y="1901213"/>
            <a:ext cx="3333572" cy="3258616"/>
          </a:xfrm>
          <a:prstGeom prst="roundRect">
            <a:avLst/>
          </a:prstGeom>
          <a:solidFill>
            <a:schemeClr val="tx1">
              <a:lumMod val="90000"/>
            </a:scheme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+mn-ea"/>
            </a:endParaRPr>
          </a:p>
        </p:txBody>
      </p:sp>
      <p:sp>
        <p:nvSpPr>
          <p:cNvPr id="55" name="Rounded Rectangle 40">
            <a:extLst>
              <a:ext uri="{FF2B5EF4-FFF2-40B4-BE49-F238E27FC236}">
                <a16:creationId xmlns:a16="http://schemas.microsoft.com/office/drawing/2014/main" id="{EF388EC5-7ECD-2E7F-DE50-0251DE7A64F1}"/>
              </a:ext>
            </a:extLst>
          </p:cNvPr>
          <p:cNvSpPr/>
          <p:nvPr/>
        </p:nvSpPr>
        <p:spPr>
          <a:xfrm>
            <a:off x="2400714" y="1901213"/>
            <a:ext cx="3333572" cy="3258616"/>
          </a:xfrm>
          <a:prstGeom prst="roundRect">
            <a:avLst/>
          </a:prstGeom>
          <a:solidFill>
            <a:schemeClr val="tx1">
              <a:lumMod val="90000"/>
            </a:scheme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8408D1-E50C-CB8E-0FA6-2BD7D399378F}"/>
              </a:ext>
            </a:extLst>
          </p:cNvPr>
          <p:cNvSpPr txBox="1"/>
          <p:nvPr/>
        </p:nvSpPr>
        <p:spPr>
          <a:xfrm>
            <a:off x="3582560" y="2214422"/>
            <a:ext cx="969881" cy="459339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lang="ko-KR" altLang="en-US" sz="2800" dirty="0">
                <a:solidFill>
                  <a:srgbClr val="E17645"/>
                </a:solidFill>
                <a:latin typeface="+mj-ea"/>
                <a:ea typeface="+mj-ea"/>
              </a:rPr>
              <a:t>필터링</a:t>
            </a:r>
            <a:endParaRPr sz="2800" dirty="0">
              <a:solidFill>
                <a:srgbClr val="E17645"/>
              </a:solidFill>
              <a:latin typeface="+mj-ea"/>
              <a:ea typeface="+mj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07DD01-51E2-6529-B620-9A2CFD749F5E}"/>
              </a:ext>
            </a:extLst>
          </p:cNvPr>
          <p:cNvSpPr txBox="1"/>
          <p:nvPr/>
        </p:nvSpPr>
        <p:spPr>
          <a:xfrm>
            <a:off x="2809912" y="4184240"/>
            <a:ext cx="2515176" cy="57246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dirty="0" err="1">
                <a:solidFill>
                  <a:srgbClr val="52655F"/>
                </a:solidFill>
                <a:latin typeface="+mn-ea"/>
              </a:rPr>
              <a:t>강의</a:t>
            </a:r>
            <a:r>
              <a:rPr lang="en-US" dirty="0">
                <a:solidFill>
                  <a:srgbClr val="52655F"/>
                </a:solidFill>
                <a:latin typeface="+mn-ea"/>
              </a:rPr>
              <a:t>,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dirty="0" err="1">
                <a:solidFill>
                  <a:srgbClr val="52655F"/>
                </a:solidFill>
                <a:latin typeface="+mn-ea"/>
              </a:rPr>
              <a:t>면접</a:t>
            </a:r>
            <a:r>
              <a:rPr lang="en-US" dirty="0">
                <a:solidFill>
                  <a:srgbClr val="52655F"/>
                </a:solidFill>
                <a:latin typeface="+mn-ea"/>
              </a:rPr>
              <a:t>,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dirty="0" err="1">
                <a:solidFill>
                  <a:srgbClr val="52655F"/>
                </a:solidFill>
                <a:latin typeface="+mn-ea"/>
              </a:rPr>
              <a:t>코딩테스트</a:t>
            </a:r>
            <a:endParaRPr lang="en-US" dirty="0">
              <a:solidFill>
                <a:srgbClr val="52655F"/>
              </a:solidFill>
              <a:latin typeface="+mn-ea"/>
            </a:endParaRPr>
          </a:p>
          <a:p>
            <a:pPr algn="ctr"/>
            <a:r>
              <a:rPr dirty="0" err="1">
                <a:solidFill>
                  <a:srgbClr val="52655F"/>
                </a:solidFill>
                <a:latin typeface="+mn-ea"/>
              </a:rPr>
              <a:t>로드맵</a:t>
            </a:r>
            <a:r>
              <a:rPr lang="en-US" dirty="0">
                <a:solidFill>
                  <a:srgbClr val="52655F"/>
                </a:solidFill>
                <a:latin typeface="+mn-ea"/>
              </a:rPr>
              <a:t>,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dirty="0" err="1">
                <a:solidFill>
                  <a:srgbClr val="52655F"/>
                </a:solidFill>
                <a:latin typeface="+mn-ea"/>
              </a:rPr>
              <a:t>초보자용</a:t>
            </a:r>
            <a:r>
              <a:rPr lang="en-US" dirty="0">
                <a:solidFill>
                  <a:srgbClr val="52655F"/>
                </a:solidFill>
                <a:latin typeface="+mn-ea"/>
              </a:rPr>
              <a:t>,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dirty="0" err="1">
                <a:solidFill>
                  <a:srgbClr val="52655F"/>
                </a:solidFill>
                <a:latin typeface="+mn-ea"/>
              </a:rPr>
              <a:t>파일형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52655F"/>
                </a:solidFill>
                <a:latin typeface="+mn-ea"/>
              </a:rPr>
              <a:t>등</a:t>
            </a:r>
            <a:endParaRPr dirty="0">
              <a:solidFill>
                <a:srgbClr val="52655F"/>
              </a:solidFill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DCF2A2-C3EC-CFB6-72FF-40773D117FF4}"/>
              </a:ext>
            </a:extLst>
          </p:cNvPr>
          <p:cNvSpPr txBox="1"/>
          <p:nvPr/>
        </p:nvSpPr>
        <p:spPr>
          <a:xfrm>
            <a:off x="7089730" y="2214422"/>
            <a:ext cx="2069541" cy="459339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lang="ko-KR" altLang="en-US" sz="2800" dirty="0">
                <a:solidFill>
                  <a:srgbClr val="00978A"/>
                </a:solidFill>
                <a:latin typeface="+mj-ea"/>
                <a:ea typeface="+mj-ea"/>
              </a:rPr>
              <a:t>추가 점수 부여</a:t>
            </a:r>
            <a:endParaRPr sz="2800" dirty="0">
              <a:solidFill>
                <a:srgbClr val="00978A"/>
              </a:solidFill>
              <a:latin typeface="+mj-ea"/>
              <a:ea typeface="+mj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54321C-FC13-652F-8FB0-9F624BBE2DC2}"/>
              </a:ext>
            </a:extLst>
          </p:cNvPr>
          <p:cNvSpPr txBox="1"/>
          <p:nvPr/>
        </p:nvSpPr>
        <p:spPr>
          <a:xfrm>
            <a:off x="6797181" y="4184240"/>
            <a:ext cx="2654637" cy="57246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dirty="0" err="1">
                <a:solidFill>
                  <a:srgbClr val="52655F"/>
                </a:solidFill>
                <a:latin typeface="+mn-ea"/>
              </a:rPr>
              <a:t>공식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dirty="0" err="1">
                <a:solidFill>
                  <a:srgbClr val="52655F"/>
                </a:solidFill>
                <a:latin typeface="+mn-ea"/>
              </a:rPr>
              <a:t>문서</a:t>
            </a:r>
            <a:r>
              <a:rPr lang="en-US" dirty="0">
                <a:solidFill>
                  <a:srgbClr val="52655F"/>
                </a:solidFill>
                <a:latin typeface="+mn-ea"/>
              </a:rPr>
              <a:t>,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dirty="0" err="1">
                <a:solidFill>
                  <a:srgbClr val="52655F"/>
                </a:solidFill>
                <a:latin typeface="+mn-ea"/>
              </a:rPr>
              <a:t>엔지니어링</a:t>
            </a:r>
            <a:r>
              <a:rPr dirty="0">
                <a:solidFill>
                  <a:srgbClr val="52655F"/>
                </a:solidFill>
                <a:latin typeface="+mn-ea"/>
              </a:rPr>
              <a:t> </a:t>
            </a:r>
            <a:r>
              <a:rPr dirty="0" err="1">
                <a:solidFill>
                  <a:srgbClr val="52655F"/>
                </a:solidFill>
                <a:latin typeface="+mn-ea"/>
              </a:rPr>
              <a:t>블로그</a:t>
            </a:r>
            <a:r>
              <a:rPr dirty="0">
                <a:solidFill>
                  <a:srgbClr val="52655F"/>
                </a:solidFill>
                <a:latin typeface="+mn-ea"/>
              </a:rPr>
              <a:t>
</a:t>
            </a:r>
            <a:r>
              <a:rPr dirty="0" err="1">
                <a:solidFill>
                  <a:srgbClr val="52655F"/>
                </a:solidFill>
                <a:latin typeface="+mn-ea"/>
              </a:rPr>
              <a:t>아키텍처</a:t>
            </a:r>
            <a:r>
              <a:rPr lang="en-US" dirty="0">
                <a:solidFill>
                  <a:srgbClr val="52655F"/>
                </a:solidFill>
                <a:latin typeface="+mn-ea"/>
              </a:rPr>
              <a:t>,</a:t>
            </a:r>
            <a:r>
              <a:rPr dirty="0">
                <a:solidFill>
                  <a:srgbClr val="52655F"/>
                </a:solidFill>
                <a:latin typeface="+mn-ea"/>
              </a:rPr>
              <a:t> Best Practice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1ECD17-A640-441C-B14E-1759A1C6FD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3582560" y="2944060"/>
            <a:ext cx="969881" cy="9698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1FF80B-CB84-4CDE-8137-6ED2B56F0F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14111" y="2918612"/>
            <a:ext cx="1020778" cy="102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63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>
            <a:extLst>
              <a:ext uri="{FF2B5EF4-FFF2-40B4-BE49-F238E27FC236}">
                <a16:creationId xmlns:a16="http://schemas.microsoft.com/office/drawing/2014/main" id="{AC659CE5-8714-4F36-9088-34B57705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590" y="3039591"/>
            <a:ext cx="1252997" cy="12486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E04D5EF-D6BB-49BB-8770-AC36E9F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ko-KR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개발자의 학습 도우미</a:t>
            </a:r>
            <a:r>
              <a:rPr lang="en-US" altLang="ko-KR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SAN</a:t>
            </a:r>
            <a:endParaRPr lang="ko-KR" altLang="ko-KR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02840-E26F-4DC4-A76E-32282B54A6CD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6. </a:t>
            </a:r>
            <a:r>
              <a:rPr lang="ko-KR" altLang="en-US" dirty="0"/>
              <a:t>기대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9CB98-5CBE-44DF-8674-20C64CE9181A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●●●●●●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58FBB73-7031-4865-81D1-8E2F721A8279}"/>
              </a:ext>
            </a:extLst>
          </p:cNvPr>
          <p:cNvGrpSpPr/>
          <p:nvPr/>
        </p:nvGrpSpPr>
        <p:grpSpPr>
          <a:xfrm>
            <a:off x="3785774" y="1949598"/>
            <a:ext cx="1632593" cy="1095421"/>
            <a:chOff x="3790211" y="1771044"/>
            <a:chExt cx="1579591" cy="1063566"/>
          </a:xfrm>
        </p:grpSpPr>
        <p:sp>
          <p:nvSpPr>
            <p:cNvPr id="30" name="사각형: 둥근 대각선 방향 모서리 29">
              <a:extLst>
                <a:ext uri="{FF2B5EF4-FFF2-40B4-BE49-F238E27FC236}">
                  <a16:creationId xmlns:a16="http://schemas.microsoft.com/office/drawing/2014/main" id="{99194638-97E1-4398-A8AE-A495ADB6C400}"/>
                </a:ext>
              </a:extLst>
            </p:cNvPr>
            <p:cNvSpPr/>
            <p:nvPr/>
          </p:nvSpPr>
          <p:spPr>
            <a:xfrm flipH="1">
              <a:off x="3923358" y="1771044"/>
              <a:ext cx="1417844" cy="1063566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lumMod val="5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DFB60CB6-EFC2-4145-8533-322844EC5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5875" y="2224252"/>
              <a:ext cx="529815" cy="509119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54CA28B-9E0D-4154-BB1B-4036EDCB1439}"/>
                </a:ext>
              </a:extLst>
            </p:cNvPr>
            <p:cNvSpPr txBox="1"/>
            <p:nvPr/>
          </p:nvSpPr>
          <p:spPr>
            <a:xfrm>
              <a:off x="3790211" y="1848893"/>
              <a:ext cx="15795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빠른 스크랩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1E7D1005-92C6-42BE-9649-392176876210}"/>
              </a:ext>
            </a:extLst>
          </p:cNvPr>
          <p:cNvGrpSpPr/>
          <p:nvPr/>
        </p:nvGrpSpPr>
        <p:grpSpPr>
          <a:xfrm>
            <a:off x="3661164" y="3325211"/>
            <a:ext cx="1632593" cy="961408"/>
            <a:chOff x="3578286" y="3097556"/>
            <a:chExt cx="1579591" cy="933450"/>
          </a:xfrm>
        </p:grpSpPr>
        <p:sp>
          <p:nvSpPr>
            <p:cNvPr id="32" name="사각형: 둥근 대각선 방향 모서리 31">
              <a:extLst>
                <a:ext uri="{FF2B5EF4-FFF2-40B4-BE49-F238E27FC236}">
                  <a16:creationId xmlns:a16="http://schemas.microsoft.com/office/drawing/2014/main" id="{9A608F5F-2404-4E07-AAAC-E0778BA46AB5}"/>
                </a:ext>
              </a:extLst>
            </p:cNvPr>
            <p:cNvSpPr/>
            <p:nvPr/>
          </p:nvSpPr>
          <p:spPr>
            <a:xfrm flipH="1">
              <a:off x="3693361" y="3097556"/>
              <a:ext cx="1416051" cy="93345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lumMod val="75000"/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0864B74-7224-4D4F-96D6-BA14E9EDA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94252" y="3500848"/>
              <a:ext cx="414268" cy="414268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E6726F7-4839-4962-9E42-7CE19D663364}"/>
                </a:ext>
              </a:extLst>
            </p:cNvPr>
            <p:cNvSpPr txBox="1"/>
            <p:nvPr/>
          </p:nvSpPr>
          <p:spPr>
            <a:xfrm>
              <a:off x="3578286" y="3149009"/>
              <a:ext cx="15795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latin typeface="+mj-ea"/>
                  <a:ea typeface="+mj-ea"/>
                </a:rPr>
                <a:t>AI </a:t>
              </a:r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요약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A5B9D5A-4218-42A6-A47A-FBFE3B062028}"/>
              </a:ext>
            </a:extLst>
          </p:cNvPr>
          <p:cNvGrpSpPr/>
          <p:nvPr/>
        </p:nvGrpSpPr>
        <p:grpSpPr>
          <a:xfrm>
            <a:off x="7130635" y="1990339"/>
            <a:ext cx="1597254" cy="1010909"/>
            <a:chOff x="7182489" y="1846242"/>
            <a:chExt cx="1545399" cy="981512"/>
          </a:xfrm>
        </p:grpSpPr>
        <p:sp>
          <p:nvSpPr>
            <p:cNvPr id="36" name="사각형: 둥근 대각선 방향 모서리 35">
              <a:extLst>
                <a:ext uri="{FF2B5EF4-FFF2-40B4-BE49-F238E27FC236}">
                  <a16:creationId xmlns:a16="http://schemas.microsoft.com/office/drawing/2014/main" id="{D6E86E01-9E1A-4DC7-BFC2-52BE7FE94C95}"/>
                </a:ext>
              </a:extLst>
            </p:cNvPr>
            <p:cNvSpPr/>
            <p:nvPr/>
          </p:nvSpPr>
          <p:spPr>
            <a:xfrm>
              <a:off x="7182489" y="1846242"/>
              <a:ext cx="1491612" cy="98151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lumMod val="75000"/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EE2B3CA5-5BCF-4E56-AA69-44637D80B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89352" y="2251561"/>
              <a:ext cx="477886" cy="477886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083ABF5-96E4-4EBD-A193-D86425C7E182}"/>
                </a:ext>
              </a:extLst>
            </p:cNvPr>
            <p:cNvSpPr txBox="1"/>
            <p:nvPr/>
          </p:nvSpPr>
          <p:spPr>
            <a:xfrm>
              <a:off x="7268239" y="1922066"/>
              <a:ext cx="1459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latin typeface="+mj-ea"/>
                  <a:ea typeface="+mj-ea"/>
                </a:rPr>
                <a:t>GITHUB </a:t>
              </a:r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연동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20165A-28E9-4ABE-ABB5-5B8931193D0A}"/>
              </a:ext>
            </a:extLst>
          </p:cNvPr>
          <p:cNvGrpSpPr/>
          <p:nvPr/>
        </p:nvGrpSpPr>
        <p:grpSpPr>
          <a:xfrm>
            <a:off x="7219263" y="3301346"/>
            <a:ext cx="1508626" cy="1010909"/>
            <a:chOff x="6760155" y="3357982"/>
            <a:chExt cx="1459649" cy="981512"/>
          </a:xfrm>
        </p:grpSpPr>
        <p:sp>
          <p:nvSpPr>
            <p:cNvPr id="34" name="사각형: 둥근 대각선 방향 모서리 33">
              <a:extLst>
                <a:ext uri="{FF2B5EF4-FFF2-40B4-BE49-F238E27FC236}">
                  <a16:creationId xmlns:a16="http://schemas.microsoft.com/office/drawing/2014/main" id="{3A41E990-B61E-493C-9D80-563083FE0EF7}"/>
                </a:ext>
              </a:extLst>
            </p:cNvPr>
            <p:cNvSpPr/>
            <p:nvPr/>
          </p:nvSpPr>
          <p:spPr>
            <a:xfrm>
              <a:off x="6781956" y="3357982"/>
              <a:ext cx="1416050" cy="98151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lumMod val="50000"/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08D0BF7F-CFEF-4513-B3DD-A4F5AC192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9165" y="3741859"/>
              <a:ext cx="481631" cy="4816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8EF1F8B-2A5E-4006-8858-0212376DFB21}"/>
                </a:ext>
              </a:extLst>
            </p:cNvPr>
            <p:cNvSpPr txBox="1"/>
            <p:nvPr/>
          </p:nvSpPr>
          <p:spPr>
            <a:xfrm>
              <a:off x="6760155" y="3416317"/>
              <a:ext cx="1459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복습 알림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297F838-4E8F-492E-BABD-BA2EEED21E25}"/>
              </a:ext>
            </a:extLst>
          </p:cNvPr>
          <p:cNvGrpSpPr/>
          <p:nvPr/>
        </p:nvGrpSpPr>
        <p:grpSpPr>
          <a:xfrm>
            <a:off x="5532167" y="1655418"/>
            <a:ext cx="1508626" cy="1010911"/>
            <a:chOff x="5581143" y="1511321"/>
            <a:chExt cx="1459649" cy="981513"/>
          </a:xfrm>
        </p:grpSpPr>
        <p:sp>
          <p:nvSpPr>
            <p:cNvPr id="29" name="사각형: 둥근 대각선 방향 모서리 28">
              <a:extLst>
                <a:ext uri="{FF2B5EF4-FFF2-40B4-BE49-F238E27FC236}">
                  <a16:creationId xmlns:a16="http://schemas.microsoft.com/office/drawing/2014/main" id="{DF068E81-9B72-4217-9087-5C610C675A58}"/>
                </a:ext>
              </a:extLst>
            </p:cNvPr>
            <p:cNvSpPr/>
            <p:nvPr/>
          </p:nvSpPr>
          <p:spPr>
            <a:xfrm>
              <a:off x="5602938" y="1511321"/>
              <a:ext cx="1394980" cy="981513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tx2">
                <a:lumMod val="25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3502D768-DFA0-4ADB-A950-6AA5D7C18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00175" y="1815617"/>
              <a:ext cx="621584" cy="62158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0A9AAA1-EC5C-44A2-8F88-A0CE331A5F12}"/>
                </a:ext>
              </a:extLst>
            </p:cNvPr>
            <p:cNvSpPr txBox="1"/>
            <p:nvPr/>
          </p:nvSpPr>
          <p:spPr>
            <a:xfrm>
              <a:off x="5581143" y="1537697"/>
              <a:ext cx="1459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시각화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512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2C209E3-37AD-4FC8-B312-7E175A2104C6}"/>
              </a:ext>
            </a:extLst>
          </p:cNvPr>
          <p:cNvSpPr/>
          <p:nvPr/>
        </p:nvSpPr>
        <p:spPr>
          <a:xfrm>
            <a:off x="2449511" y="3073400"/>
            <a:ext cx="2776539" cy="471923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4258A-091F-4BC4-AC9B-6FCECF3BB9EE}"/>
              </a:ext>
            </a:extLst>
          </p:cNvPr>
          <p:cNvSpPr txBox="1"/>
          <p:nvPr/>
        </p:nvSpPr>
        <p:spPr>
          <a:xfrm>
            <a:off x="1231900" y="1196469"/>
            <a:ext cx="18034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“</a:t>
            </a:r>
            <a:endParaRPr lang="ko-KR" altLang="en-US" sz="16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E1C5C1-6EC1-4FBF-9082-AC230DCA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2821"/>
            <a:ext cx="10515600" cy="192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ko-KR" altLang="en-US" sz="4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더 이상 저장만 하는 사람이 아닌</a:t>
            </a:r>
            <a:r>
              <a:rPr lang="en-US" altLang="ko-KR" sz="4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,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ko-KR" alt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지식을 활용할 수 있는 개발자로</a:t>
            </a:r>
            <a:r>
              <a:rPr lang="en-US" altLang="ko-KR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!</a:t>
            </a:r>
            <a:endParaRPr lang="ko-KR" altLang="ko-KR" sz="4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4C026-BC68-41E8-8740-9DF618384FE4}"/>
              </a:ext>
            </a:extLst>
          </p:cNvPr>
          <p:cNvSpPr txBox="1"/>
          <p:nvPr/>
        </p:nvSpPr>
        <p:spPr>
          <a:xfrm>
            <a:off x="9744075" y="2519908"/>
            <a:ext cx="18034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” </a:t>
            </a:r>
            <a:endParaRPr lang="ko-KR" altLang="en-US" sz="16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CE801F-7F90-4091-9673-4D164EABF3A1}"/>
              </a:ext>
            </a:extLst>
          </p:cNvPr>
          <p:cNvSpPr txBox="1"/>
          <p:nvPr/>
        </p:nvSpPr>
        <p:spPr>
          <a:xfrm>
            <a:off x="279762" y="225235"/>
            <a:ext cx="1958613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altLang="ko-KR" dirty="0"/>
              <a:t>6. </a:t>
            </a:r>
            <a:r>
              <a:rPr lang="ko-KR" altLang="en-US" dirty="0"/>
              <a:t>기대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C1922-B558-4878-BC5E-10FA3E4DC7C0}"/>
              </a:ext>
            </a:extLst>
          </p:cNvPr>
          <p:cNvSpPr txBox="1"/>
          <p:nvPr/>
        </p:nvSpPr>
        <p:spPr>
          <a:xfrm>
            <a:off x="9369880" y="240501"/>
            <a:ext cx="2542358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lvl="0" algn="ctr"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r>
              <a:rPr lang="ko-KR" altLang="en-US" dirty="0"/>
              <a:t>●●●●●●</a:t>
            </a:r>
          </a:p>
        </p:txBody>
      </p:sp>
    </p:spTree>
    <p:extLst>
      <p:ext uri="{BB962C8B-B14F-4D97-AF65-F5344CB8AC3E}">
        <p14:creationId xmlns:p14="http://schemas.microsoft.com/office/powerpoint/2010/main" val="328750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6D8D0A-0216-4769-B171-21EC2B7373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70" y="2260620"/>
            <a:ext cx="3702050" cy="40032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F7CB3D-78CC-445D-B44F-F76DDF3D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A309 </a:t>
            </a:r>
            <a:r>
              <a:rPr lang="ko-KR" altLang="en-US" dirty="0"/>
              <a:t>팀원 소개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ACAD03-FEAE-4E35-923F-F5294F3455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332177">
            <a:off x="6383736" y="3227511"/>
            <a:ext cx="1288967" cy="17186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ADC361-CD51-4F5D-A806-D375954152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8849">
            <a:off x="3386209" y="2702831"/>
            <a:ext cx="1341752" cy="1789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B6EA793-ED86-4FE9-A0D8-69A0C2ABD2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289072">
            <a:off x="5049941" y="1633023"/>
            <a:ext cx="1414463" cy="18859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6ECAEC9-C9F1-44D4-8A83-FEC10343B0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163572">
            <a:off x="3825525" y="1621080"/>
            <a:ext cx="1341752" cy="17890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24813A9-A88F-43E0-9381-CAC323CEAF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77128">
            <a:off x="4597919" y="3252541"/>
            <a:ext cx="1277301" cy="170306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2208C05-F7B5-41D4-BC03-4215ACFB15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712839">
            <a:off x="6315769" y="1680260"/>
            <a:ext cx="1297873" cy="1730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CBE496-961F-4CD0-9128-6E5EBBC6C316}"/>
              </a:ext>
            </a:extLst>
          </p:cNvPr>
          <p:cNvSpPr txBox="1"/>
          <p:nvPr/>
        </p:nvSpPr>
        <p:spPr>
          <a:xfrm>
            <a:off x="1902284" y="3141139"/>
            <a:ext cx="1172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>
                <a:solidFill>
                  <a:schemeClr val="bg1"/>
                </a:solidFill>
              </a:rPr>
              <a:t>방승재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| AI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3BD99-D474-492E-BF43-9DCADB3FBEE0}"/>
              </a:ext>
            </a:extLst>
          </p:cNvPr>
          <p:cNvSpPr txBox="1"/>
          <p:nvPr/>
        </p:nvSpPr>
        <p:spPr>
          <a:xfrm>
            <a:off x="1902284" y="2088933"/>
            <a:ext cx="1172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이강희 </a:t>
            </a:r>
            <a:r>
              <a:rPr lang="en-US" altLang="ko-KR" dirty="0">
                <a:solidFill>
                  <a:schemeClr val="bg1"/>
                </a:solidFill>
              </a:rPr>
              <a:t>| AI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3DF8B8-06E8-4BC6-8858-8A61F929A7D8}"/>
              </a:ext>
            </a:extLst>
          </p:cNvPr>
          <p:cNvSpPr txBox="1"/>
          <p:nvPr/>
        </p:nvSpPr>
        <p:spPr>
          <a:xfrm>
            <a:off x="1902284" y="419334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이준영 </a:t>
            </a:r>
            <a:r>
              <a:rPr lang="en-US" altLang="ko-KR" dirty="0">
                <a:solidFill>
                  <a:schemeClr val="bg1"/>
                </a:solidFill>
              </a:rPr>
              <a:t>| INFRA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07094-26A6-490A-A46A-65711399AD8D}"/>
              </a:ext>
            </a:extLst>
          </p:cNvPr>
          <p:cNvSpPr txBox="1"/>
          <p:nvPr/>
        </p:nvSpPr>
        <p:spPr>
          <a:xfrm>
            <a:off x="8972309" y="1883332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>
                <a:solidFill>
                  <a:schemeClr val="bg1"/>
                </a:solidFill>
              </a:rPr>
              <a:t>유다현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| FS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209E6F-CB05-458F-9AAB-9BFF3DC3D423}"/>
              </a:ext>
            </a:extLst>
          </p:cNvPr>
          <p:cNvSpPr txBox="1"/>
          <p:nvPr/>
        </p:nvSpPr>
        <p:spPr>
          <a:xfrm>
            <a:off x="8965897" y="2664636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>
                <a:solidFill>
                  <a:schemeClr val="bg1"/>
                </a:solidFill>
              </a:rPr>
              <a:t>권예지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| FS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6A54E-B1DC-4A86-8526-8BEBB094B509}"/>
              </a:ext>
            </a:extLst>
          </p:cNvPr>
          <p:cNvSpPr txBox="1"/>
          <p:nvPr/>
        </p:nvSpPr>
        <p:spPr>
          <a:xfrm>
            <a:off x="8965897" y="344594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김다희 </a:t>
            </a:r>
            <a:r>
              <a:rPr lang="en-US" altLang="ko-KR" dirty="0">
                <a:solidFill>
                  <a:schemeClr val="bg1"/>
                </a:solidFill>
              </a:rPr>
              <a:t>| BE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BCC72-6169-4B2A-9EA2-AB3B1B70ADFD}"/>
              </a:ext>
            </a:extLst>
          </p:cNvPr>
          <p:cNvSpPr txBox="1"/>
          <p:nvPr/>
        </p:nvSpPr>
        <p:spPr>
          <a:xfrm>
            <a:off x="8965898" y="422724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박준아 </a:t>
            </a:r>
            <a:r>
              <a:rPr lang="en-US" altLang="ko-KR" dirty="0">
                <a:solidFill>
                  <a:schemeClr val="bg1"/>
                </a:solidFill>
              </a:rPr>
              <a:t>| BE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ABAE569-4ED7-45ED-BBC6-77E955FC5F4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002643">
            <a:off x="6938701" y="2116214"/>
            <a:ext cx="1935659" cy="216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368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E1505C-E1BF-46D9-ACAC-703C4B4AA831}"/>
              </a:ext>
            </a:extLst>
          </p:cNvPr>
          <p:cNvSpPr txBox="1">
            <a:spLocks/>
          </p:cNvSpPr>
          <p:nvPr/>
        </p:nvSpPr>
        <p:spPr>
          <a:xfrm>
            <a:off x="838200" y="2447987"/>
            <a:ext cx="10515600" cy="638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ko-KR" sz="4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QnA</a:t>
            </a:r>
            <a:endParaRPr lang="ko-KR" altLang="ko-KR" sz="4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6209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유사 서비스와의 </a:t>
            </a:r>
            <a:r>
              <a:rPr lang="ko-KR" altLang="en-US" dirty="0" err="1"/>
              <a:t>차별점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42CF4-DFAC-4E9C-B44A-B827A57F9FFC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Q. LLM Wiki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와 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SAN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의 차이점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6FDBE1E-9634-4D9D-B6D4-A8483FA28466}"/>
              </a:ext>
            </a:extLst>
          </p:cNvPr>
          <p:cNvCxnSpPr>
            <a:cxnSpLocks/>
          </p:cNvCxnSpPr>
          <p:nvPr/>
        </p:nvCxnSpPr>
        <p:spPr>
          <a:xfrm>
            <a:off x="1153885" y="1809430"/>
            <a:ext cx="0" cy="208433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F233E0-D317-4357-9CE7-105E46A01789}"/>
              </a:ext>
            </a:extLst>
          </p:cNvPr>
          <p:cNvSpPr txBox="1"/>
          <p:nvPr/>
        </p:nvSpPr>
        <p:spPr>
          <a:xfrm>
            <a:off x="1371600" y="19449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accent2"/>
                </a:solidFill>
                <a:latin typeface="+mn-ea"/>
              </a:defRPr>
            </a:lvl1pPr>
          </a:lstStyle>
          <a:p>
            <a:r>
              <a:rPr lang="en-US" altLang="ko-KR" dirty="0">
                <a:solidFill>
                  <a:schemeClr val="bg1"/>
                </a:solidFill>
              </a:rPr>
              <a:t>LLM Wiki (</a:t>
            </a:r>
            <a:r>
              <a:rPr lang="ko-KR" altLang="en-US" dirty="0">
                <a:solidFill>
                  <a:schemeClr val="bg1"/>
                </a:solidFill>
              </a:rPr>
              <a:t>사용자 중심 문서 보관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F4B3FE-9739-47F5-97CC-6FD7731C08FD}"/>
              </a:ext>
            </a:extLst>
          </p:cNvPr>
          <p:cNvSpPr txBox="1"/>
          <p:nvPr/>
        </p:nvSpPr>
        <p:spPr>
          <a:xfrm>
            <a:off x="1371600" y="2324806"/>
            <a:ext cx="8512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지식을 직접 문서화하여 탐색하고 문답 형태로 찾아보는 </a:t>
            </a:r>
            <a:r>
              <a:rPr lang="ko-KR" altLang="en-US" b="1" i="0" dirty="0">
                <a:solidFill>
                  <a:schemeClr val="accent3"/>
                </a:solidFill>
                <a:effectLst/>
                <a:latin typeface="+mn-ea"/>
              </a:rPr>
              <a:t>정적인 위키</a:t>
            </a:r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에 가깝습니다</a:t>
            </a:r>
            <a:r>
              <a:rPr lang="en-US" altLang="ko-KR" b="0" i="0" dirty="0">
                <a:solidFill>
                  <a:schemeClr val="accent1"/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36314E-E3ED-4CCC-848F-909CFC9AB02E}"/>
              </a:ext>
            </a:extLst>
          </p:cNvPr>
          <p:cNvSpPr txBox="1"/>
          <p:nvPr/>
        </p:nvSpPr>
        <p:spPr>
          <a:xfrm>
            <a:off x="1371600" y="2870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dirty="0"/>
              <a:t>SAN (</a:t>
            </a:r>
            <a:r>
              <a:rPr lang="ko-KR" altLang="en-US" dirty="0"/>
              <a:t>지식 자동화 및 대시보드 시각화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B2539-723F-4A25-8FCA-6A2E509C5234}"/>
              </a:ext>
            </a:extLst>
          </p:cNvPr>
          <p:cNvSpPr txBox="1"/>
          <p:nvPr/>
        </p:nvSpPr>
        <p:spPr>
          <a:xfrm>
            <a:off x="1371600" y="3247429"/>
            <a:ext cx="9031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0" i="0">
                <a:solidFill>
                  <a:schemeClr val="accent1"/>
                </a:solidFill>
                <a:effectLst/>
                <a:latin typeface="Plus Jakarta Sans"/>
              </a:defRPr>
            </a:lvl1pPr>
          </a:lstStyle>
          <a:p>
            <a:r>
              <a:rPr lang="ko-KR" altLang="en-US" dirty="0">
                <a:latin typeface="+mn-ea"/>
              </a:rPr>
              <a:t>개발자가 링크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자료를 저장하면 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AI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요약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태그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카테고리</a:t>
            </a:r>
            <a:r>
              <a:rPr lang="ko-KR" altLang="en-US" dirty="0">
                <a:latin typeface="+mn-ea"/>
              </a:rPr>
              <a:t>가 대시보드에 실시간 </a:t>
            </a:r>
            <a:r>
              <a:rPr lang="ko-KR" altLang="en-US" dirty="0" err="1">
                <a:latin typeface="+mn-ea"/>
              </a:rPr>
              <a:t>시각화됩니다</a:t>
            </a:r>
            <a:r>
              <a:rPr lang="en-US" altLang="ko-KR" dirty="0">
                <a:latin typeface="+mn-ea"/>
              </a:rPr>
              <a:t>.</a:t>
            </a:r>
          </a:p>
          <a:p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일일 리콜 시스템 및 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GitHub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관심사 연동 지식 추천</a:t>
            </a:r>
            <a:r>
              <a:rPr lang="ko-KR" altLang="en-US" dirty="0">
                <a:latin typeface="+mn-ea"/>
              </a:rPr>
              <a:t>으로 지속적 학습을 확장합니다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60354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FB020-3331-4870-8B19-2201C3EF182C}"/>
              </a:ext>
            </a:extLst>
          </p:cNvPr>
          <p:cNvSpPr txBox="1"/>
          <p:nvPr/>
        </p:nvSpPr>
        <p:spPr>
          <a:xfrm>
            <a:off x="1304925" y="1862435"/>
            <a:ext cx="8667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는 크게 다섯 부분에 사용됩니다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원문 요약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태그와 카테고리 생성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 err="1">
                <a:solidFill>
                  <a:schemeClr val="accent3"/>
                </a:solidFill>
                <a:latin typeface="+mn-ea"/>
              </a:rPr>
              <a:t>임베딩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TIL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생성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accent3"/>
                </a:solidFill>
                <a:latin typeface="+mn-ea"/>
              </a:rPr>
              <a:t>퀴즈나 리콜 컨텐츠 생성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사용됩니다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모두 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GMS API(</a:t>
            </a:r>
            <a:r>
              <a:rPr lang="en-US" altLang="ko-KR" b="1" dirty="0" err="1">
                <a:solidFill>
                  <a:schemeClr val="accent3"/>
                </a:solidFill>
                <a:latin typeface="+mn-ea"/>
              </a:rPr>
              <a:t>ChatGPT</a:t>
            </a:r>
            <a:r>
              <a:rPr lang="en-US" altLang="ko-KR" b="1" dirty="0">
                <a:solidFill>
                  <a:schemeClr val="accent3"/>
                </a:solidFill>
                <a:latin typeface="+mn-ea"/>
              </a:rPr>
              <a:t> 5.2)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를 사용해서 구현했습니다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42CF4-DFAC-4E9C-B44A-B827A57F9FFC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Q. AI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는 정확히 어디에 사용되나요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6FDBE1E-9634-4D9D-B6D4-A8483FA28466}"/>
              </a:ext>
            </a:extLst>
          </p:cNvPr>
          <p:cNvCxnSpPr>
            <a:cxnSpLocks/>
          </p:cNvCxnSpPr>
          <p:nvPr/>
        </p:nvCxnSpPr>
        <p:spPr>
          <a:xfrm>
            <a:off x="1153885" y="1809430"/>
            <a:ext cx="0" cy="9763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C3A9FF-A0B9-48DA-AE1D-185CC67BE1CE}"/>
              </a:ext>
            </a:extLst>
          </p:cNvPr>
          <p:cNvSpPr txBox="1"/>
          <p:nvPr/>
        </p:nvSpPr>
        <p:spPr>
          <a:xfrm>
            <a:off x="1304925" y="4073995"/>
            <a:ext cx="89131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dirty="0"/>
              <a:t>기획 단계에서는 </a:t>
            </a:r>
            <a:r>
              <a:rPr lang="en-US" altLang="ko-KR" dirty="0"/>
              <a:t>AI </a:t>
            </a:r>
            <a:r>
              <a:rPr lang="ko-KR" altLang="en-US" dirty="0"/>
              <a:t>서비스 서버 </a:t>
            </a:r>
            <a:r>
              <a:rPr lang="en-US" altLang="ko-KR" dirty="0"/>
              <a:t>/ AI </a:t>
            </a:r>
            <a:r>
              <a:rPr lang="ko-KR" altLang="en-US" dirty="0"/>
              <a:t>추론 서버 </a:t>
            </a:r>
            <a:r>
              <a:rPr lang="en-US" altLang="ko-KR" dirty="0"/>
              <a:t>2</a:t>
            </a:r>
            <a:r>
              <a:rPr lang="ko-KR" altLang="en-US" dirty="0"/>
              <a:t>개를 운영할 계획이었으나</a:t>
            </a:r>
            <a:r>
              <a:rPr lang="en-US" altLang="ko-KR" dirty="0"/>
              <a:t>, </a:t>
            </a:r>
          </a:p>
          <a:p>
            <a:r>
              <a:rPr lang="en-US" altLang="ko-KR" b="1" dirty="0">
                <a:solidFill>
                  <a:schemeClr val="accent3"/>
                </a:solidFill>
              </a:rPr>
              <a:t>GPU </a:t>
            </a:r>
            <a:r>
              <a:rPr lang="ko-KR" altLang="en-US" b="1" dirty="0">
                <a:solidFill>
                  <a:schemeClr val="accent3"/>
                </a:solidFill>
              </a:rPr>
              <a:t>서버 비용 문제</a:t>
            </a:r>
            <a:r>
              <a:rPr lang="ko-KR" altLang="en-US" dirty="0">
                <a:solidFill>
                  <a:schemeClr val="accent3"/>
                </a:solidFill>
              </a:rPr>
              <a:t>로 추론 서버 대신 </a:t>
            </a:r>
            <a:r>
              <a:rPr lang="en-US" altLang="ko-KR" dirty="0">
                <a:solidFill>
                  <a:schemeClr val="accent3"/>
                </a:solidFill>
              </a:rPr>
              <a:t>GMS API</a:t>
            </a:r>
            <a:r>
              <a:rPr lang="ko-KR" altLang="en-US" dirty="0">
                <a:solidFill>
                  <a:schemeClr val="accent3"/>
                </a:solidFill>
              </a:rPr>
              <a:t>를 사용</a:t>
            </a:r>
            <a:r>
              <a:rPr lang="ko-KR" altLang="en-US" dirty="0"/>
              <a:t>하게 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별도 </a:t>
            </a:r>
            <a:r>
              <a:rPr lang="en-US" altLang="ko-KR" dirty="0"/>
              <a:t>LLM </a:t>
            </a:r>
            <a:r>
              <a:rPr lang="ko-KR" altLang="en-US" dirty="0"/>
              <a:t>추론 서버가 있다면 </a:t>
            </a:r>
            <a:r>
              <a:rPr lang="ko-KR" altLang="en-US" dirty="0" err="1"/>
              <a:t>설정값</a:t>
            </a:r>
            <a:r>
              <a:rPr lang="ko-KR" altLang="en-US" dirty="0"/>
              <a:t> 변경으로 사용 가능합니다</a:t>
            </a:r>
            <a:r>
              <a:rPr lang="en-US" altLang="ko-KR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B560A9-BD2A-4CD2-A770-6793BCEEAC71}"/>
              </a:ext>
            </a:extLst>
          </p:cNvPr>
          <p:cNvSpPr txBox="1"/>
          <p:nvPr/>
        </p:nvSpPr>
        <p:spPr>
          <a:xfrm>
            <a:off x="990600" y="35418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AI</a:t>
            </a:r>
            <a:r>
              <a:rPr lang="ko-KR" altLang="en-US" dirty="0"/>
              <a:t>서버를 별도로 운영하는 구조는 고려하지 않았나요</a:t>
            </a:r>
            <a:r>
              <a:rPr lang="en-US" altLang="ko-KR" dirty="0"/>
              <a:t>?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23A6EEF-015A-475F-B110-7C77E4FC7235}"/>
              </a:ext>
            </a:extLst>
          </p:cNvPr>
          <p:cNvCxnSpPr>
            <a:cxnSpLocks/>
          </p:cNvCxnSpPr>
          <p:nvPr/>
        </p:nvCxnSpPr>
        <p:spPr>
          <a:xfrm>
            <a:off x="1153885" y="4020990"/>
            <a:ext cx="0" cy="9763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732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65054B-4AE0-413D-B6C0-CEAB5EAE2E11}"/>
              </a:ext>
            </a:extLst>
          </p:cNvPr>
          <p:cNvSpPr txBox="1"/>
          <p:nvPr/>
        </p:nvSpPr>
        <p:spPr>
          <a:xfrm>
            <a:off x="1304925" y="1900027"/>
            <a:ext cx="8913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dirty="0"/>
              <a:t>AI</a:t>
            </a:r>
            <a:r>
              <a:rPr lang="ko-KR" altLang="en-US" dirty="0"/>
              <a:t>가 생성한 결과는 최종 </a:t>
            </a:r>
            <a:r>
              <a:rPr lang="ko-KR" altLang="en-US" dirty="0" err="1"/>
              <a:t>확정값이</a:t>
            </a:r>
            <a:r>
              <a:rPr lang="ko-KR" altLang="en-US" dirty="0"/>
              <a:t> 아니라 사용자의 빠른 정보 정리를 도와주는 초기 </a:t>
            </a:r>
            <a:r>
              <a:rPr lang="ko-KR" altLang="en-US" dirty="0" err="1"/>
              <a:t>추천값입니다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사용자가 직접 수정할 수 있도록 했습니다</a:t>
            </a:r>
            <a:r>
              <a:rPr lang="en-US" altLang="ko-KR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7CA9E-32ED-4370-80D8-5C9B01EB22B8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AI</a:t>
            </a:r>
            <a:r>
              <a:rPr lang="ko-KR" altLang="en-US" dirty="0"/>
              <a:t>가 잘못 요약하거나 잘못 분류하면 어떻게 하나요</a:t>
            </a:r>
            <a:r>
              <a:rPr lang="en-US" altLang="ko-KR" dirty="0"/>
              <a:t>?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508EC53-E20F-43FE-A229-4E5CCEE2BA4C}"/>
              </a:ext>
            </a:extLst>
          </p:cNvPr>
          <p:cNvCxnSpPr>
            <a:cxnSpLocks/>
          </p:cNvCxnSpPr>
          <p:nvPr/>
        </p:nvCxnSpPr>
        <p:spPr>
          <a:xfrm>
            <a:off x="1153885" y="1847022"/>
            <a:ext cx="0" cy="69933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51DB4AF-5F7F-4FB9-A429-F8F9CA579D39}"/>
              </a:ext>
            </a:extLst>
          </p:cNvPr>
          <p:cNvSpPr txBox="1"/>
          <p:nvPr/>
        </p:nvSpPr>
        <p:spPr>
          <a:xfrm>
            <a:off x="1304924" y="4073995"/>
            <a:ext cx="94574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dirty="0"/>
              <a:t>외부 </a:t>
            </a:r>
            <a:r>
              <a:rPr lang="en-US" altLang="ko-KR" dirty="0"/>
              <a:t>API</a:t>
            </a:r>
            <a:r>
              <a:rPr lang="ko-KR" altLang="en-US" dirty="0"/>
              <a:t>가 꼭 필요한 작업만 </a:t>
            </a:r>
            <a:r>
              <a:rPr lang="en-US" altLang="ko-KR" b="1" dirty="0">
                <a:solidFill>
                  <a:schemeClr val="accent3"/>
                </a:solidFill>
              </a:rPr>
              <a:t>AI </a:t>
            </a:r>
            <a:r>
              <a:rPr lang="ko-KR" altLang="en-US" b="1" dirty="0">
                <a:solidFill>
                  <a:schemeClr val="accent3"/>
                </a:solidFill>
              </a:rPr>
              <a:t>서버</a:t>
            </a:r>
            <a:r>
              <a:rPr lang="ko-KR" altLang="en-US" dirty="0"/>
              <a:t>에서 처리하고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저장</a:t>
            </a:r>
            <a:r>
              <a:rPr lang="en-US" altLang="ko-KR" dirty="0"/>
              <a:t>·</a:t>
            </a:r>
            <a:r>
              <a:rPr lang="ko-KR" altLang="en-US" dirty="0"/>
              <a:t>조회 등은 </a:t>
            </a:r>
            <a:r>
              <a:rPr lang="ko-KR" altLang="en-US" b="1" dirty="0" err="1">
                <a:solidFill>
                  <a:schemeClr val="accent3"/>
                </a:solidFill>
              </a:rPr>
              <a:t>백엔드</a:t>
            </a:r>
            <a:r>
              <a:rPr lang="ko-KR" altLang="en-US" dirty="0" err="1"/>
              <a:t>가</a:t>
            </a:r>
            <a:r>
              <a:rPr lang="ko-KR" altLang="en-US" dirty="0"/>
              <a:t> 담당하도록 분리했습니다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작업</a:t>
            </a:r>
            <a:r>
              <a:rPr lang="en-US" altLang="ko-KR" dirty="0"/>
              <a:t>, GitHub </a:t>
            </a:r>
            <a:r>
              <a:rPr lang="ko-KR" altLang="en-US" dirty="0"/>
              <a:t>작업</a:t>
            </a:r>
            <a:r>
              <a:rPr lang="en-US" altLang="ko-KR" dirty="0"/>
              <a:t>, TIL </a:t>
            </a:r>
            <a:r>
              <a:rPr lang="ko-KR" altLang="en-US" dirty="0"/>
              <a:t>생성 등 외부 </a:t>
            </a:r>
            <a:r>
              <a:rPr lang="en-US" altLang="ko-KR" dirty="0"/>
              <a:t>API</a:t>
            </a:r>
            <a:r>
              <a:rPr lang="ko-KR" altLang="en-US" dirty="0"/>
              <a:t>를 호출하는 작업은 </a:t>
            </a:r>
            <a:r>
              <a:rPr lang="ko-KR" altLang="en-US" b="1" dirty="0">
                <a:solidFill>
                  <a:schemeClr val="accent3"/>
                </a:solidFill>
              </a:rPr>
              <a:t>비동기 처리</a:t>
            </a:r>
            <a:r>
              <a:rPr lang="ko-KR" altLang="en-US" dirty="0"/>
              <a:t>로 응답 시간을 줄였습니다</a:t>
            </a:r>
            <a:r>
              <a:rPr lang="en-US" altLang="ko-KR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9A525C-E07A-4C5B-9A4A-D8117623EAAE}"/>
              </a:ext>
            </a:extLst>
          </p:cNvPr>
          <p:cNvSpPr txBox="1"/>
          <p:nvPr/>
        </p:nvSpPr>
        <p:spPr>
          <a:xfrm>
            <a:off x="990599" y="3541877"/>
            <a:ext cx="7369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en-US" b="1" dirty="0"/>
              <a:t>외부 </a:t>
            </a:r>
            <a:r>
              <a:rPr lang="en-US" altLang="ko-KR" b="1" dirty="0"/>
              <a:t>API</a:t>
            </a:r>
            <a:r>
              <a:rPr lang="ko-KR" altLang="en-US" b="1" dirty="0"/>
              <a:t>를 사용하면 의존성이나 응답 시간이 길어지는 문제가 있지 않나요</a:t>
            </a:r>
            <a:r>
              <a:rPr lang="en-US" altLang="ko-KR" b="1" dirty="0"/>
              <a:t>?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DB39A2F-95A2-4AE3-A7D0-758C7A3D7559}"/>
              </a:ext>
            </a:extLst>
          </p:cNvPr>
          <p:cNvCxnSpPr>
            <a:cxnSpLocks/>
          </p:cNvCxnSpPr>
          <p:nvPr/>
        </p:nvCxnSpPr>
        <p:spPr>
          <a:xfrm>
            <a:off x="1153885" y="4020990"/>
            <a:ext cx="0" cy="9763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975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구현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87A18-A6F6-4104-8269-6619A15835A6}"/>
              </a:ext>
            </a:extLst>
          </p:cNvPr>
          <p:cNvSpPr txBox="1"/>
          <p:nvPr/>
        </p:nvSpPr>
        <p:spPr>
          <a:xfrm>
            <a:off x="1304926" y="1900027"/>
            <a:ext cx="95082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ko-KR" dirty="0" err="1">
                <a:solidFill>
                  <a:schemeClr val="bg1"/>
                </a:solidFill>
                <a:latin typeface="+mn-ea"/>
              </a:rPr>
              <a:t>Spring의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@Async + @TransactionalEventListener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를 조합했습니다.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사용자 요청을 받은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메인 스레드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는 DB 저장 후 즉시 200 </a:t>
            </a:r>
            <a:r>
              <a:rPr lang="ko-KR" altLang="ko-KR" dirty="0" err="1">
                <a:solidFill>
                  <a:schemeClr val="accent3"/>
                </a:solidFill>
                <a:latin typeface="+mn-ea"/>
              </a:rPr>
              <a:t>OK를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 반환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하고, 트랜잭션 </a:t>
            </a:r>
            <a:r>
              <a:rPr lang="ko-KR" altLang="ko-KR" dirty="0" err="1">
                <a:solidFill>
                  <a:schemeClr val="bg1"/>
                </a:solidFill>
                <a:latin typeface="+mn-ea"/>
              </a:rPr>
              <a:t>커밋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시점에 이벤트를 발행합니다.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백그라운드 워커</a:t>
            </a:r>
            <a:r>
              <a:rPr lang="ko-KR" altLang="ko-KR" dirty="0">
                <a:solidFill>
                  <a:schemeClr val="accent3"/>
                </a:solidFill>
                <a:latin typeface="+mn-ea"/>
              </a:rPr>
              <a:t>가 이 이벤트를 받아 AI 서버 호출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을 처리합니다.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작업 상태는 </a:t>
            </a:r>
            <a:r>
              <a:rPr lang="ko-KR" altLang="ko-KR" b="1" dirty="0">
                <a:solidFill>
                  <a:schemeClr val="accent3"/>
                </a:solidFill>
                <a:latin typeface="+mn-ea"/>
              </a:rPr>
              <a:t>PENDING → PROCESSING → COMPLETED/FAILED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 흐름으로 추적하며,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ko-KR" altLang="ko-KR" dirty="0">
                <a:solidFill>
                  <a:schemeClr val="bg1"/>
                </a:solidFill>
                <a:latin typeface="+mn-ea"/>
              </a:rPr>
              <a:t>이벤트 유실이나 워커 중단에 대비해 2시간 주기 복구 스케줄러를 두었습니다.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3AFAA-BD78-4407-BC74-2DD41A94964F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ko-KR" dirty="0">
                <a:solidFill>
                  <a:schemeClr val="bg1"/>
                </a:solidFill>
                <a:latin typeface="+mn-ea"/>
              </a:rPr>
              <a:t>비동기 처리를 어떻게 구현했나요?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3D09E6-447D-4B7A-AD25-AB54D7748B02}"/>
              </a:ext>
            </a:extLst>
          </p:cNvPr>
          <p:cNvCxnSpPr>
            <a:cxnSpLocks/>
          </p:cNvCxnSpPr>
          <p:nvPr/>
        </p:nvCxnSpPr>
        <p:spPr>
          <a:xfrm>
            <a:off x="1153885" y="1847022"/>
            <a:ext cx="0" cy="208433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23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F1959-4A92-4746-8E28-914B2FDB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카테고리와 태그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7CA9E-32ED-4370-80D8-5C9B01EB22B8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en-US" dirty="0"/>
              <a:t>카테고리와 태그는 뭐가 달라요</a:t>
            </a:r>
            <a:r>
              <a:rPr lang="en-US" altLang="ko-KR" dirty="0"/>
              <a:t>?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C825CC-5C60-48BD-BF74-8733AAA1EE7B}"/>
              </a:ext>
            </a:extLst>
          </p:cNvPr>
          <p:cNvCxnSpPr>
            <a:cxnSpLocks/>
          </p:cNvCxnSpPr>
          <p:nvPr/>
        </p:nvCxnSpPr>
        <p:spPr>
          <a:xfrm>
            <a:off x="1153885" y="1809430"/>
            <a:ext cx="0" cy="271028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819114-727D-4388-B939-261F154D591C}"/>
              </a:ext>
            </a:extLst>
          </p:cNvPr>
          <p:cNvSpPr txBox="1"/>
          <p:nvPr/>
        </p:nvSpPr>
        <p:spPr>
          <a:xfrm>
            <a:off x="1371600" y="19449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accent2"/>
                </a:solidFill>
                <a:latin typeface="+mn-ea"/>
              </a:defRPr>
            </a:lvl1pPr>
          </a:lstStyle>
          <a:p>
            <a:r>
              <a:rPr lang="ko-KR" altLang="en-US" dirty="0">
                <a:solidFill>
                  <a:schemeClr val="bg1"/>
                </a:solidFill>
              </a:rPr>
              <a:t>카테고리 </a:t>
            </a:r>
            <a:r>
              <a:rPr lang="en-US" altLang="ko-KR" dirty="0">
                <a:solidFill>
                  <a:schemeClr val="bg1"/>
                </a:solidFill>
              </a:rPr>
              <a:t>(Category) - </a:t>
            </a:r>
            <a:r>
              <a:rPr lang="ko-KR" altLang="en-US" dirty="0">
                <a:solidFill>
                  <a:schemeClr val="bg1"/>
                </a:solidFill>
              </a:rPr>
              <a:t>거시적 지표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7A870-C883-4539-ABA5-19E90B468EEB}"/>
              </a:ext>
            </a:extLst>
          </p:cNvPr>
          <p:cNvSpPr txBox="1"/>
          <p:nvPr/>
        </p:nvSpPr>
        <p:spPr>
          <a:xfrm>
            <a:off x="1371599" y="2324806"/>
            <a:ext cx="924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대시보드 상에서 지식의 전체적인 비중과 거대한 흐름을 </a:t>
            </a:r>
            <a:r>
              <a:rPr lang="ko-KR" altLang="en-US" b="0" i="0" dirty="0" err="1">
                <a:solidFill>
                  <a:schemeClr val="accent1"/>
                </a:solidFill>
                <a:effectLst/>
                <a:latin typeface="+mn-ea"/>
              </a:rPr>
              <a:t>시각화하는</a:t>
            </a:r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 구조적 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+mn-ea"/>
              </a:rPr>
              <a:t>'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+mn-ea"/>
              </a:rPr>
              <a:t>큰 주제 폴더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+mn-ea"/>
              </a:rPr>
              <a:t>' </a:t>
            </a:r>
            <a:r>
              <a:rPr lang="ko-KR" altLang="en-US" b="0" i="0" dirty="0">
                <a:solidFill>
                  <a:schemeClr val="accent1"/>
                </a:solidFill>
                <a:effectLst/>
                <a:latin typeface="+mn-ea"/>
              </a:rPr>
              <a:t>역할입니다</a:t>
            </a:r>
            <a:r>
              <a:rPr lang="en-US" altLang="ko-KR" b="0" i="0" dirty="0">
                <a:solidFill>
                  <a:schemeClr val="accent1"/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377305-30C0-43A0-A7EB-2D1CD421E95F}"/>
              </a:ext>
            </a:extLst>
          </p:cNvPr>
          <p:cNvSpPr txBox="1"/>
          <p:nvPr/>
        </p:nvSpPr>
        <p:spPr>
          <a:xfrm>
            <a:off x="1371599" y="3404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/>
              <a:t>태그 </a:t>
            </a:r>
            <a:r>
              <a:rPr lang="en-US" altLang="ko-KR" dirty="0"/>
              <a:t>(Tag) - </a:t>
            </a:r>
            <a:r>
              <a:rPr lang="ko-KR" altLang="en-US" dirty="0"/>
              <a:t>미시적 필터링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51C3A-C692-4C25-8A96-EB4D3D11EF95}"/>
              </a:ext>
            </a:extLst>
          </p:cNvPr>
          <p:cNvSpPr txBox="1"/>
          <p:nvPr/>
        </p:nvSpPr>
        <p:spPr>
          <a:xfrm>
            <a:off x="1371598" y="3781052"/>
            <a:ext cx="924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b="0" i="0">
                <a:solidFill>
                  <a:schemeClr val="accent1"/>
                </a:solidFill>
                <a:effectLst/>
                <a:latin typeface="+mn-ea"/>
              </a:defRPr>
            </a:lvl1pPr>
          </a:lstStyle>
          <a:p>
            <a:r>
              <a:rPr lang="ko-KR" altLang="en-US" b="1" dirty="0"/>
              <a:t>세부 정보 검색</a:t>
            </a:r>
            <a:r>
              <a:rPr lang="en-US" altLang="ko-KR" b="1" dirty="0"/>
              <a:t>, </a:t>
            </a:r>
            <a:r>
              <a:rPr lang="ko-KR" altLang="en-US" b="1" dirty="0"/>
              <a:t>특정 필터링</a:t>
            </a:r>
            <a:r>
              <a:rPr lang="en-US" altLang="ko-KR" b="1" dirty="0"/>
              <a:t>, </a:t>
            </a:r>
            <a:r>
              <a:rPr lang="ko-KR" altLang="en-US" b="1" dirty="0"/>
              <a:t>상호 연관 지식 카드 추천</a:t>
            </a:r>
            <a:r>
              <a:rPr lang="ko-KR" altLang="en-US" dirty="0"/>
              <a:t>의 징검다리 역할을 하는 </a:t>
            </a:r>
            <a:r>
              <a:rPr lang="en-US" altLang="ko-KR" b="1" dirty="0"/>
              <a:t>'</a:t>
            </a:r>
            <a:r>
              <a:rPr lang="ko-KR" altLang="en-US" b="1" dirty="0"/>
              <a:t>인덱스 키워드</a:t>
            </a:r>
            <a:r>
              <a:rPr lang="en-US" altLang="ko-KR" b="1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84121B-700F-499B-AE0B-AE41E77E83E6}"/>
              </a:ext>
            </a:extLst>
          </p:cNvPr>
          <p:cNvSpPr txBox="1"/>
          <p:nvPr/>
        </p:nvSpPr>
        <p:spPr>
          <a:xfrm>
            <a:off x="1371598" y="2688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chemeClr val="accent3"/>
                </a:solidFill>
                <a:latin typeface="+mn-ea"/>
              </a:rPr>
              <a:t>예시</a:t>
            </a:r>
            <a:r>
              <a:rPr lang="en-US" altLang="ko-KR" i="1" dirty="0">
                <a:solidFill>
                  <a:schemeClr val="accent3"/>
                </a:solidFill>
                <a:latin typeface="+mn-ea"/>
              </a:rPr>
              <a:t>: Backend, Frontend, Cloud, DevOps</a:t>
            </a:r>
            <a:endParaRPr lang="ko-KR" altLang="en-US" i="1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064A8-35B2-48CA-A97B-C8FE50258641}"/>
              </a:ext>
            </a:extLst>
          </p:cNvPr>
          <p:cNvSpPr txBox="1"/>
          <p:nvPr/>
        </p:nvSpPr>
        <p:spPr>
          <a:xfrm>
            <a:off x="1371598" y="41503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chemeClr val="accent3"/>
                </a:solidFill>
              </a:rPr>
              <a:t>예시</a:t>
            </a:r>
            <a:r>
              <a:rPr lang="en-US" altLang="ko-KR" i="1" dirty="0">
                <a:solidFill>
                  <a:schemeClr val="accent3"/>
                </a:solidFill>
              </a:rPr>
              <a:t>: </a:t>
            </a:r>
            <a:r>
              <a:rPr lang="en-US" altLang="ko-KR" i="1" dirty="0" err="1">
                <a:solidFill>
                  <a:schemeClr val="accent3"/>
                </a:solidFill>
              </a:rPr>
              <a:t>FastAPI</a:t>
            </a:r>
            <a:r>
              <a:rPr lang="en-US" altLang="ko-KR" i="1" dirty="0">
                <a:solidFill>
                  <a:schemeClr val="accent3"/>
                </a:solidFill>
              </a:rPr>
              <a:t>, REST API, JWT</a:t>
            </a:r>
          </a:p>
        </p:txBody>
      </p:sp>
    </p:spTree>
    <p:extLst>
      <p:ext uri="{BB962C8B-B14F-4D97-AF65-F5344CB8AC3E}">
        <p14:creationId xmlns:p14="http://schemas.microsoft.com/office/powerpoint/2010/main" val="6175701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C3791-28F8-41C4-A0E7-A616F3F0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유사 카드 추천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E62AB5-97FC-42DC-A603-D68FD57D8EE1}"/>
              </a:ext>
            </a:extLst>
          </p:cNvPr>
          <p:cNvSpPr txBox="1"/>
          <p:nvPr/>
        </p:nvSpPr>
        <p:spPr>
          <a:xfrm>
            <a:off x="1304925" y="3874877"/>
            <a:ext cx="9928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b="1" dirty="0" err="1">
                <a:solidFill>
                  <a:schemeClr val="accent3"/>
                </a:solidFill>
              </a:rPr>
              <a:t>pgvector</a:t>
            </a:r>
            <a:r>
              <a:rPr lang="ko-KR" altLang="en-US" b="1" dirty="0">
                <a:solidFill>
                  <a:schemeClr val="accent3"/>
                </a:solidFill>
              </a:rPr>
              <a:t>의 코사인 유사도 기준</a:t>
            </a:r>
            <a:r>
              <a:rPr lang="ko-KR" altLang="en-US" dirty="0"/>
              <a:t>으로 임계치를 설정했습니다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임계치가 너무 낮으면 무관한 카드가 섞이고</a:t>
            </a:r>
            <a:r>
              <a:rPr lang="en-US" altLang="ko-KR" dirty="0"/>
              <a:t>, </a:t>
            </a:r>
            <a:r>
              <a:rPr lang="ko-KR" altLang="en-US" dirty="0"/>
              <a:t>너무 높으면 리콜 카드를 충분히 찾지 못합니다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실제 콘텐츠로 반복 테스트해 의미 있는 연관성이 나오는 값을 기준으로 조정했습니다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E2951-2BBA-48D2-8A2A-F7A29A685CF1}"/>
              </a:ext>
            </a:extLst>
          </p:cNvPr>
          <p:cNvSpPr txBox="1"/>
          <p:nvPr/>
        </p:nvSpPr>
        <p:spPr>
          <a:xfrm>
            <a:off x="99060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Q. </a:t>
            </a:r>
            <a:r>
              <a:rPr lang="ko-KR" altLang="en-US" dirty="0"/>
              <a:t>벡터 검색 유사도 임계치는 어떤 기준으로 설정했나요</a:t>
            </a:r>
            <a:r>
              <a:rPr lang="en-US" altLang="ko-KR" dirty="0"/>
              <a:t>?</a:t>
            </a:r>
            <a:endParaRPr lang="ko-KR" altLang="ko-KR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A583E7-4ADB-491A-9A05-A4D870D7E4E3}"/>
              </a:ext>
            </a:extLst>
          </p:cNvPr>
          <p:cNvCxnSpPr>
            <a:cxnSpLocks/>
          </p:cNvCxnSpPr>
          <p:nvPr/>
        </p:nvCxnSpPr>
        <p:spPr>
          <a:xfrm>
            <a:off x="1153885" y="1847022"/>
            <a:ext cx="0" cy="301072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7E362A0D-5403-4F9E-B34B-CBA1E1CB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1" y="1938647"/>
            <a:ext cx="9423398" cy="173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SAN">
      <a:dk1>
        <a:srgbClr val="10201A"/>
      </a:dk1>
      <a:lt1>
        <a:srgbClr val="F4F8F5"/>
      </a:lt1>
      <a:dk2>
        <a:srgbClr val="101417"/>
      </a:dk2>
      <a:lt2>
        <a:srgbClr val="FBFFFA"/>
      </a:lt2>
      <a:accent1>
        <a:srgbClr val="4E6159"/>
      </a:accent1>
      <a:accent2>
        <a:srgbClr val="4ADE80"/>
      </a:accent2>
      <a:accent3>
        <a:srgbClr val="0F8F7F"/>
      </a:accent3>
      <a:accent4>
        <a:srgbClr val="3FCE75"/>
      </a:accent4>
      <a:accent5>
        <a:srgbClr val="B9CBC1"/>
      </a:accent5>
      <a:accent6>
        <a:srgbClr val="83958C"/>
      </a:accent6>
      <a:hlink>
        <a:srgbClr val="3FCE75"/>
      </a:hlink>
      <a:folHlink>
        <a:srgbClr val="005944"/>
      </a:folHlink>
    </a:clrScheme>
    <a:fontScheme name="Pretendard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1CBA25-5F59-489D-BC19-00977745C563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e578de0d-f2db-4d69-b680-7211cbeeffd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1997</TotalTime>
  <Words>1420</Words>
  <Application>Microsoft Office PowerPoint</Application>
  <PresentationFormat>와이드스크린</PresentationFormat>
  <Paragraphs>367</Paragraphs>
  <Slides>44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9" baseType="lpstr">
      <vt:lpstr>Pretendard</vt:lpstr>
      <vt:lpstr>Pretendard ExtraBold</vt:lpstr>
      <vt:lpstr>맑은 고딕</vt:lpstr>
      <vt:lpstr>Arial</vt:lpstr>
      <vt:lpstr>Office 테마</vt:lpstr>
      <vt:lpstr>PowerPoint 프레젠테이션</vt:lpstr>
      <vt:lpstr>PowerPoint 프레젠테이션</vt:lpstr>
      <vt:lpstr>개발자는 어떻게 학습하는가?</vt:lpstr>
      <vt:lpstr>PowerPoint 프레젠테이션</vt:lpstr>
      <vt:lpstr>PowerPoint 프레젠테이션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기존 서비스 한계</vt:lpstr>
      <vt:lpstr>PowerPoint 프레젠테이션</vt:lpstr>
      <vt:lpstr>지식의 뿌리를 내리는 여정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SAN 핵심 기능</vt:lpstr>
      <vt:lpstr>지식의 SAN을 가꾸어보세요</vt:lpstr>
      <vt:lpstr>크롬 익스텐션</vt:lpstr>
      <vt:lpstr>크롬 익스텐션</vt:lpstr>
      <vt:lpstr>비동기 구현</vt:lpstr>
      <vt:lpstr>AI 활용</vt:lpstr>
      <vt:lpstr>컨텍스트 길이 제한 이슈</vt:lpstr>
      <vt:lpstr>컨텍스트 길이 제한 이슈</vt:lpstr>
      <vt:lpstr>GitHub Star 기반 컨텐츠 추천</vt:lpstr>
      <vt:lpstr>GitHub Star 기반 컨텐츠 추천</vt:lpstr>
      <vt:lpstr>개발자의 학습 도우미, SAN</vt:lpstr>
      <vt:lpstr>PowerPoint 프레젠테이션</vt:lpstr>
      <vt:lpstr>A309 팀원 소개</vt:lpstr>
      <vt:lpstr>PowerPoint 프레젠테이션</vt:lpstr>
      <vt:lpstr>유사 서비스와의 차별점</vt:lpstr>
      <vt:lpstr>AI 활용</vt:lpstr>
      <vt:lpstr>AI 활용</vt:lpstr>
      <vt:lpstr>비동기 구현</vt:lpstr>
      <vt:lpstr>카테고리와 태그</vt:lpstr>
      <vt:lpstr>유사 카드 추천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894</cp:revision>
  <cp:lastPrinted>2026-05-20T23:51:43Z</cp:lastPrinted>
  <dcterms:created xsi:type="dcterms:W3CDTF">2026-05-14T04:27:44Z</dcterms:created>
  <dcterms:modified xsi:type="dcterms:W3CDTF">2026-05-20T23:51:52Z</dcterms:modified>
</cp:coreProperties>
</file>